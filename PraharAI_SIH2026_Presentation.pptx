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1B6AF7-C685-4577-BB39-BF354767E7E7}" v="160" dt="2026-08-25T21:05:13.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34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Prathmesh" userId="8f62ad001ce7aa45" providerId="LiveId" clId="{B4996F7E-BA48-4F08-8B51-A67813B3708B}"/>
    <pc:docChg chg="modSld">
      <pc:chgData name="Kumar Prathmesh" userId="8f62ad001ce7aa45" providerId="LiveId" clId="{B4996F7E-BA48-4F08-8B51-A67813B3708B}" dt="2026-08-25T21:03:48.081" v="232" actId="20577"/>
      <pc:docMkLst>
        <pc:docMk/>
      </pc:docMkLst>
      <pc:sldChg chg="modTransition modAnim">
        <pc:chgData name="Kumar Prathmesh" userId="8f62ad001ce7aa45" providerId="LiveId" clId="{B4996F7E-BA48-4F08-8B51-A67813B3708B}" dt="2026-08-25T20:57:17.033" v="9"/>
        <pc:sldMkLst>
          <pc:docMk/>
          <pc:sldMk cId="0" sldId="256"/>
        </pc:sldMkLst>
      </pc:sldChg>
      <pc:sldChg chg="modSp modTransition modAnim">
        <pc:chgData name="Kumar Prathmesh" userId="8f62ad001ce7aa45" providerId="LiveId" clId="{B4996F7E-BA48-4F08-8B51-A67813B3708B}" dt="2026-08-25T21:03:48.081" v="232" actId="20577"/>
        <pc:sldMkLst>
          <pc:docMk/>
          <pc:sldMk cId="0" sldId="257"/>
        </pc:sldMkLst>
        <pc:spChg chg="mod">
          <ac:chgData name="Kumar Prathmesh" userId="8f62ad001ce7aa45" providerId="LiveId" clId="{B4996F7E-BA48-4F08-8B51-A67813B3708B}" dt="2026-08-25T21:03:48.081" v="232" actId="20577"/>
          <ac:spMkLst>
            <pc:docMk/>
            <pc:sldMk cId="0" sldId="257"/>
            <ac:spMk id="6" creationId="{00000000-0000-0000-0000-000000000000}"/>
          </ac:spMkLst>
        </pc:spChg>
      </pc:sldChg>
      <pc:sldChg chg="modTransition modAnim">
        <pc:chgData name="Kumar Prathmesh" userId="8f62ad001ce7aa45" providerId="LiveId" clId="{B4996F7E-BA48-4F08-8B51-A67813B3708B}" dt="2026-08-25T20:57:17.130" v="24"/>
        <pc:sldMkLst>
          <pc:docMk/>
          <pc:sldMk cId="0" sldId="258"/>
        </pc:sldMkLst>
      </pc:sldChg>
      <pc:sldChg chg="modTransition modAnim">
        <pc:chgData name="Kumar Prathmesh" userId="8f62ad001ce7aa45" providerId="LiveId" clId="{B4996F7E-BA48-4F08-8B51-A67813B3708B}" dt="2026-08-25T20:57:17.175" v="31"/>
        <pc:sldMkLst>
          <pc:docMk/>
          <pc:sldMk cId="0" sldId="259"/>
        </pc:sldMkLst>
      </pc:sldChg>
      <pc:sldChg chg="modTransition modAnim">
        <pc:chgData name="Kumar Prathmesh" userId="8f62ad001ce7aa45" providerId="LiveId" clId="{B4996F7E-BA48-4F08-8B51-A67813B3708B}" dt="2026-08-25T20:57:17.280" v="49"/>
        <pc:sldMkLst>
          <pc:docMk/>
          <pc:sldMk cId="0" sldId="260"/>
        </pc:sldMkLst>
      </pc:sldChg>
      <pc:sldChg chg="modTransition modAnim">
        <pc:chgData name="Kumar Prathmesh" userId="8f62ad001ce7aa45" providerId="LiveId" clId="{B4996F7E-BA48-4F08-8B51-A67813B3708B}" dt="2026-08-25T20:57:17.357" v="59"/>
        <pc:sldMkLst>
          <pc:docMk/>
          <pc:sldMk cId="0" sldId="261"/>
        </pc:sldMkLst>
      </pc:sldChg>
      <pc:sldChg chg="modTransition modAnim">
        <pc:chgData name="Kumar Prathmesh" userId="8f62ad001ce7aa45" providerId="LiveId" clId="{B4996F7E-BA48-4F08-8B51-A67813B3708B}" dt="2026-08-25T20:57:17.400" v="66"/>
        <pc:sldMkLst>
          <pc:docMk/>
          <pc:sldMk cId="0" sldId="262"/>
        </pc:sldMkLst>
      </pc:sldChg>
      <pc:sldChg chg="modTransition modAnim">
        <pc:chgData name="Kumar Prathmesh" userId="8f62ad001ce7aa45" providerId="LiveId" clId="{B4996F7E-BA48-4F08-8B51-A67813B3708B}" dt="2026-08-25T20:57:17.472" v="78"/>
        <pc:sldMkLst>
          <pc:docMk/>
          <pc:sldMk cId="0" sldId="26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
        <p:cNvGrpSpPr/>
        <p:nvPr/>
      </p:nvGrpSpPr>
      <p:grpSpPr>
        <a:xfrm>
          <a:off x="0" y="0"/>
          <a:ext cx="0" cy="0"/>
          <a:chOff x="0" y="0"/>
          <a:chExt cx="0" cy="0"/>
        </a:xfrm>
      </p:grpSpPr>
      <p:pic>
        <p:nvPicPr>
          <p:cNvPr id="2" name="Picture 1" descr="SIH2026-logo.png"/>
          <p:cNvPicPr>
            <a:picLocks noChangeAspect="1"/>
          </p:cNvPicPr>
          <p:nvPr/>
        </p:nvPicPr>
        <p:blipFill>
          <a:blip r:embed="rId2"/>
          <a:stretch>
            <a:fillRect/>
          </a:stretch>
        </p:blipFill>
        <p:spPr>
          <a:xfrm>
            <a:off x="3352190" y="365760"/>
            <a:ext cx="5486400" cy="724495"/>
          </a:xfrm>
          <a:prstGeom prst="rect">
            <a:avLst/>
          </a:prstGeom>
        </p:spPr>
      </p:pic>
      <p:sp>
        <p:nvSpPr>
          <p:cNvPr id="3" name="Rounded Rectangle 2"/>
          <p:cNvSpPr/>
          <p:nvPr/>
        </p:nvSpPr>
        <p:spPr>
          <a:xfrm>
            <a:off x="731520" y="1920240"/>
            <a:ext cx="3108960" cy="320040"/>
          </a:xfrm>
          <a:prstGeom prst="roundRect">
            <a:avLst/>
          </a:prstGeom>
          <a:solidFill>
            <a:srgbClr val="EEE2DA"/>
          </a:solidFill>
          <a:ln>
            <a:solidFill>
              <a:srgbClr val="DCCDC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78554B"/>
                </a:solidFill>
              </a:defRPr>
            </a:pPr>
            <a:r>
              <a:t>SMART INDIA HACKATHON 2026 · PS ID: 26024</a:t>
            </a:r>
          </a:p>
        </p:txBody>
      </p:sp>
      <p:sp>
        <p:nvSpPr>
          <p:cNvPr id="4" name="TextBox 3"/>
          <p:cNvSpPr txBox="1"/>
          <p:nvPr/>
        </p:nvSpPr>
        <p:spPr>
          <a:xfrm>
            <a:off x="731520" y="2331720"/>
            <a:ext cx="10728655" cy="822960"/>
          </a:xfrm>
          <a:prstGeom prst="rect">
            <a:avLst/>
          </a:prstGeom>
          <a:noFill/>
        </p:spPr>
        <p:txBody>
          <a:bodyPr wrap="square">
            <a:spAutoFit/>
          </a:bodyPr>
          <a:lstStyle/>
          <a:p>
            <a:pPr algn="ctr">
              <a:defRPr sz="4600" b="1">
                <a:solidFill>
                  <a:srgbClr val="1E1E1E"/>
                </a:solidFill>
              </a:defRPr>
            </a:pPr>
            <a:r>
              <a:t>PraharAI</a:t>
            </a:r>
          </a:p>
        </p:txBody>
      </p:sp>
      <p:sp>
        <p:nvSpPr>
          <p:cNvPr id="5" name="TextBox 4"/>
          <p:cNvSpPr txBox="1"/>
          <p:nvPr/>
        </p:nvSpPr>
        <p:spPr>
          <a:xfrm>
            <a:off x="731520" y="3154680"/>
            <a:ext cx="10728655" cy="457200"/>
          </a:xfrm>
          <a:prstGeom prst="rect">
            <a:avLst/>
          </a:prstGeom>
          <a:noFill/>
        </p:spPr>
        <p:txBody>
          <a:bodyPr wrap="square">
            <a:spAutoFit/>
          </a:bodyPr>
          <a:lstStyle/>
          <a:p>
            <a:pPr algn="ctr">
              <a:defRPr sz="1600" b="1">
                <a:solidFill>
                  <a:srgbClr val="323232"/>
                </a:solidFill>
              </a:defRPr>
            </a:pPr>
            <a:r>
              <a:t>AI–Based Smart Command and Control Centre for Coal Mining Governance</a:t>
            </a:r>
          </a:p>
        </p:txBody>
      </p:sp>
      <p:sp>
        <p:nvSpPr>
          <p:cNvPr id="6" name="Rectangle 5"/>
          <p:cNvSpPr/>
          <p:nvPr/>
        </p:nvSpPr>
        <p:spPr>
          <a:xfrm>
            <a:off x="731520" y="3749039"/>
            <a:ext cx="10728655" cy="18288"/>
          </a:xfrm>
          <a:prstGeom prst="rect">
            <a:avLst/>
          </a:prstGeom>
          <a:solidFill>
            <a:srgbClr val="B9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931920"/>
            <a:ext cx="6217920" cy="2560320"/>
          </a:xfrm>
          <a:prstGeom prst="rect">
            <a:avLst/>
          </a:prstGeom>
          <a:noFill/>
        </p:spPr>
        <p:txBody>
          <a:bodyPr wrap="square">
            <a:spAutoFit/>
          </a:bodyPr>
          <a:lstStyle/>
          <a:p>
            <a:pPr>
              <a:spcAft>
                <a:spcPts val="800"/>
              </a:spcAft>
              <a:defRPr sz="1600" b="1">
                <a:solidFill>
                  <a:srgbClr val="1E1E1E"/>
                </a:solidFill>
              </a:defRPr>
            </a:pPr>
            <a:r>
              <a:t>Team Members</a:t>
            </a:r>
          </a:p>
          <a:p>
            <a:pPr>
              <a:spcAft>
                <a:spcPts val="400"/>
              </a:spcAft>
            </a:pPr>
            <a:r>
              <a:rPr sz="1200">
                <a:solidFill>
                  <a:srgbClr val="1E1E1E"/>
                </a:solidFill>
              </a:rPr>
              <a:t>Tanmay Goel (24BCE2916) · </a:t>
            </a:r>
            <a:r>
              <a:rPr sz="1200" i="1">
                <a:solidFill>
                  <a:srgbClr val="4B4B4B"/>
                </a:solidFill>
              </a:rPr>
              <a:t>Backend and Compliance Lead</a:t>
            </a:r>
          </a:p>
          <a:p>
            <a:pPr>
              <a:spcAft>
                <a:spcPts val="400"/>
              </a:spcAft>
            </a:pPr>
            <a:r>
              <a:rPr sz="1200">
                <a:solidFill>
                  <a:srgbClr val="1E1E1E"/>
                </a:solidFill>
              </a:rPr>
              <a:t>Divanshu Singh Ramful (24BCE2915) · </a:t>
            </a:r>
            <a:r>
              <a:rPr sz="1200" i="1">
                <a:solidFill>
                  <a:srgbClr val="4B4B4B"/>
                </a:solidFill>
              </a:rPr>
              <a:t>Database Lead</a:t>
            </a:r>
          </a:p>
          <a:p>
            <a:pPr>
              <a:spcAft>
                <a:spcPts val="400"/>
              </a:spcAft>
            </a:pPr>
            <a:r>
              <a:rPr sz="1200">
                <a:solidFill>
                  <a:srgbClr val="1E1E1E"/>
                </a:solidFill>
              </a:rPr>
              <a:t>Ishan Arya (24BCE2228) · </a:t>
            </a:r>
            <a:r>
              <a:rPr sz="1200" i="1">
                <a:solidFill>
                  <a:srgbClr val="4B4B4B"/>
                </a:solidFill>
              </a:rPr>
              <a:t>Security Lead</a:t>
            </a:r>
          </a:p>
          <a:p>
            <a:pPr>
              <a:spcAft>
                <a:spcPts val="400"/>
              </a:spcAft>
            </a:pPr>
            <a:r>
              <a:rPr sz="1200">
                <a:solidFill>
                  <a:srgbClr val="1E1E1E"/>
                </a:solidFill>
              </a:rPr>
              <a:t>Apoorva R (24BEC0307) · </a:t>
            </a:r>
            <a:r>
              <a:rPr sz="1200" i="1">
                <a:solidFill>
                  <a:srgbClr val="4B4B4B"/>
                </a:solidFill>
              </a:rPr>
              <a:t>AI/ML Lead</a:t>
            </a:r>
          </a:p>
          <a:p>
            <a:pPr>
              <a:spcAft>
                <a:spcPts val="400"/>
              </a:spcAft>
            </a:pPr>
            <a:r>
              <a:rPr sz="1200">
                <a:solidFill>
                  <a:srgbClr val="1E1E1E"/>
                </a:solidFill>
              </a:rPr>
              <a:t>Madhav Mehrotra (24BEC0458) · </a:t>
            </a:r>
            <a:r>
              <a:rPr sz="1200" i="1">
                <a:solidFill>
                  <a:srgbClr val="4B4B4B"/>
                </a:solidFill>
              </a:rPr>
              <a:t>Frontend Lead</a:t>
            </a:r>
          </a:p>
          <a:p>
            <a:pPr>
              <a:spcAft>
                <a:spcPts val="400"/>
              </a:spcAft>
            </a:pPr>
            <a:r>
              <a:rPr sz="1200">
                <a:solidFill>
                  <a:srgbClr val="1E1E1E"/>
                </a:solidFill>
              </a:rPr>
              <a:t>Kumar Prathmesh (24BEC0680) · </a:t>
            </a:r>
            <a:r>
              <a:rPr sz="1200" i="1">
                <a:solidFill>
                  <a:srgbClr val="4B4B4B"/>
                </a:solidFill>
              </a:rPr>
              <a:t>Innovation and Pitch Lead</a:t>
            </a:r>
          </a:p>
        </p:txBody>
      </p:sp>
      <p:sp>
        <p:nvSpPr>
          <p:cNvPr id="8" name="TextBox 7"/>
          <p:cNvSpPr txBox="1"/>
          <p:nvPr/>
        </p:nvSpPr>
        <p:spPr>
          <a:xfrm>
            <a:off x="7132320" y="3931920"/>
            <a:ext cx="4327855" cy="2560320"/>
          </a:xfrm>
          <a:prstGeom prst="rect">
            <a:avLst/>
          </a:prstGeom>
          <a:noFill/>
        </p:spPr>
        <p:txBody>
          <a:bodyPr wrap="square">
            <a:spAutoFit/>
          </a:bodyPr>
          <a:lstStyle/>
          <a:p>
            <a:pPr>
              <a:spcAft>
                <a:spcPts val="400"/>
              </a:spcAft>
              <a:defRPr sz="1600" b="1">
                <a:solidFill>
                  <a:srgbClr val="1E1E1E"/>
                </a:solidFill>
              </a:defRPr>
            </a:pPr>
            <a:r>
              <a:t>Institution</a:t>
            </a:r>
          </a:p>
          <a:p>
            <a:pPr>
              <a:defRPr sz="1200">
                <a:solidFill>
                  <a:srgbClr val="1E1E1E"/>
                </a:solidFill>
              </a:defRPr>
            </a:pPr>
            <a:r>
              <a:t>Vellore Institute of Technology (VIT)</a:t>
            </a:r>
          </a:p>
          <a:p>
            <a:pPr>
              <a:spcAft>
                <a:spcPts val="1400"/>
              </a:spcAft>
              <a:defRPr sz="1200">
                <a:solidFill>
                  <a:srgbClr val="4B4B4B"/>
                </a:solidFill>
              </a:defRPr>
            </a:pPr>
            <a:r>
              <a:t>School of Electronics Engineering</a:t>
            </a:r>
          </a:p>
          <a:p>
            <a:pPr>
              <a:spcAft>
                <a:spcPts val="400"/>
              </a:spcAft>
              <a:defRPr sz="1600" b="1">
                <a:solidFill>
                  <a:srgbClr val="1E1E1E"/>
                </a:solidFill>
              </a:defRPr>
            </a:pPr>
            <a:r>
              <a:t>Mentor</a:t>
            </a:r>
          </a:p>
          <a:p>
            <a:pPr>
              <a:defRPr sz="1200">
                <a:solidFill>
                  <a:srgbClr val="1E1E1E"/>
                </a:solidFill>
              </a:defRPr>
            </a:pPr>
            <a:r>
              <a:t>Dr. Jeeva J. B.</a:t>
            </a:r>
          </a:p>
          <a:p>
            <a:pPr>
              <a:defRPr sz="1200" i="1">
                <a:solidFill>
                  <a:srgbClr val="4B4B4B"/>
                </a:solidFill>
              </a:defRPr>
            </a:pPr>
            <a:r>
              <a:t>Associate Professor Sr., Dept. of Sensor &amp; Biomedical Technology</a:t>
            </a:r>
          </a:p>
          <a:p>
            <a:pPr>
              <a:defRPr sz="1200">
                <a:solidFill>
                  <a:srgbClr val="4B4B4B"/>
                </a:solidFill>
              </a:defRPr>
            </a:pPr>
            <a:r>
              <a:t>jbjeeva@vit.ac.in</a:t>
            </a:r>
          </a:p>
        </p:txBody>
      </p:sp>
    </p:spTree>
  </p:cSld>
  <p:clrMapOvr>
    <a:masterClrMapping/>
  </p:clrMapOvr>
  <mc:AlternateContent xmlns:mc="http://schemas.openxmlformats.org/markup-compatibility/2006" xmlns:p14="http://schemas.microsoft.com/office/powerpoint/2010/main">
    <mc:Choice Requires="p14">
      <p:transition spd="med" p14:dur="600">
        <p:blinds/>
      </p:transition>
    </mc:Choice>
    <mc:Fallback xmlns="">
      <p:transition spd="med">
        <p:blind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
        <p:cNvGrpSpPr/>
        <p:nvPr/>
      </p:nvGrpSpPr>
      <p:grpSpPr>
        <a:xfrm>
          <a:off x="0" y="0"/>
          <a:ext cx="0" cy="0"/>
          <a:chOff x="0" y="0"/>
          <a:chExt cx="0" cy="0"/>
        </a:xfrm>
      </p:grpSpPr>
      <p:sp>
        <p:nvSpPr>
          <p:cNvPr id="2" name="Rounded Rectangle 1"/>
          <p:cNvSpPr/>
          <p:nvPr/>
        </p:nvSpPr>
        <p:spPr>
          <a:xfrm>
            <a:off x="731520" y="502920"/>
            <a:ext cx="2011680" cy="320040"/>
          </a:xfrm>
          <a:prstGeom prst="roundRect">
            <a:avLst/>
          </a:prstGeom>
          <a:solidFill>
            <a:srgbClr val="EEE2DA"/>
          </a:solidFill>
          <a:ln>
            <a:solidFill>
              <a:srgbClr val="DCCDC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78554B"/>
                </a:solidFill>
              </a:defRPr>
            </a:pPr>
            <a:r>
              <a:t>CRISIS AT CIL</a:t>
            </a:r>
          </a:p>
        </p:txBody>
      </p:sp>
      <p:sp>
        <p:nvSpPr>
          <p:cNvPr id="3" name="TextBox 2"/>
          <p:cNvSpPr txBox="1"/>
          <p:nvPr/>
        </p:nvSpPr>
        <p:spPr>
          <a:xfrm>
            <a:off x="731520" y="868680"/>
            <a:ext cx="10728655" cy="731520"/>
          </a:xfrm>
          <a:prstGeom prst="rect">
            <a:avLst/>
          </a:prstGeom>
          <a:noFill/>
        </p:spPr>
        <p:txBody>
          <a:bodyPr wrap="square">
            <a:spAutoFit/>
          </a:bodyPr>
          <a:lstStyle/>
          <a:p>
            <a:pPr>
              <a:defRPr sz="3600" b="1">
                <a:solidFill>
                  <a:srgbClr val="1E1E1E"/>
                </a:solidFill>
              </a:defRPr>
            </a:pPr>
            <a:r>
              <a:t>Understanding the Problem</a:t>
            </a:r>
          </a:p>
        </p:txBody>
      </p:sp>
      <p:sp>
        <p:nvSpPr>
          <p:cNvPr id="4" name="Rectangle 3"/>
          <p:cNvSpPr/>
          <p:nvPr/>
        </p:nvSpPr>
        <p:spPr>
          <a:xfrm>
            <a:off x="731520" y="1645920"/>
            <a:ext cx="10728655" cy="18288"/>
          </a:xfrm>
          <a:prstGeom prst="rect">
            <a:avLst/>
          </a:prstGeom>
          <a:solidFill>
            <a:srgbClr val="B9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874519"/>
            <a:ext cx="5120640" cy="4572000"/>
          </a:xfrm>
          <a:prstGeom prst="roundRect">
            <a:avLst/>
          </a:prstGeom>
          <a:solidFill>
            <a:srgbClr val="FFFFFF"/>
          </a:solidFill>
          <a:ln>
            <a:solidFill>
              <a:srgbClr val="E6DCD2"/>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400"/>
              </a:spcAft>
              <a:defRPr sz="2000" b="1">
                <a:solidFill>
                  <a:srgbClr val="A02D23"/>
                </a:solidFill>
              </a:defRPr>
            </a:pPr>
            <a:r>
              <a:t>Problems</a:t>
            </a:r>
          </a:p>
          <a:p>
            <a:pPr algn="l">
              <a:spcAft>
                <a:spcPts val="1200"/>
              </a:spcAft>
              <a:defRPr sz="1350">
                <a:solidFill>
                  <a:srgbClr val="1E1E1E"/>
                </a:solidFill>
              </a:defRPr>
            </a:pPr>
            <a:r>
              <a:t>• Manual spreadsheets and paper trails</a:t>
            </a:r>
          </a:p>
          <a:p>
            <a:pPr algn="l">
              <a:spcAft>
                <a:spcPts val="1200"/>
              </a:spcAft>
              <a:defRPr sz="1350">
                <a:solidFill>
                  <a:srgbClr val="1E1E1E"/>
                </a:solidFill>
              </a:defRPr>
            </a:pPr>
            <a:r>
              <a:t>• Standard Operating Procedure is reactive, not preventive</a:t>
            </a:r>
          </a:p>
          <a:p>
            <a:pPr algn="l">
              <a:spcAft>
                <a:spcPts val="1200"/>
              </a:spcAft>
              <a:defRPr sz="1350">
                <a:solidFill>
                  <a:srgbClr val="1E1E1E"/>
                </a:solidFill>
              </a:defRPr>
            </a:pPr>
            <a:r>
              <a:t>• Fragmented record systems and delayed grievance handling</a:t>
            </a:r>
          </a:p>
          <a:p>
            <a:pPr algn="l">
              <a:spcAft>
                <a:spcPts val="1200"/>
              </a:spcAft>
              <a:defRPr sz="1350">
                <a:solidFill>
                  <a:srgbClr val="1E1E1E"/>
                </a:solidFill>
              </a:defRPr>
            </a:pPr>
            <a:r>
              <a:t>• Untraceable compliance failures</a:t>
            </a:r>
          </a:p>
          <a:p>
            <a:pPr algn="l">
              <a:spcAft>
                <a:spcPts val="1200"/>
              </a:spcAft>
              <a:defRPr sz="1350">
                <a:solidFill>
                  <a:srgbClr val="1E1E1E"/>
                </a:solidFill>
              </a:defRPr>
            </a:pPr>
            <a:r>
              <a:t>• Illegal mining pits and coal mafia</a:t>
            </a:r>
          </a:p>
        </p:txBody>
      </p:sp>
      <p:sp>
        <p:nvSpPr>
          <p:cNvPr id="6" name="Rounded Rectangle 5"/>
          <p:cNvSpPr/>
          <p:nvPr/>
        </p:nvSpPr>
        <p:spPr>
          <a:xfrm>
            <a:off x="6156655" y="1874519"/>
            <a:ext cx="5303520" cy="4572000"/>
          </a:xfrm>
          <a:prstGeom prst="roundRect">
            <a:avLst/>
          </a:prstGeom>
          <a:solidFill>
            <a:srgbClr val="FFFFFF"/>
          </a:solidFill>
          <a:ln>
            <a:solidFill>
              <a:srgbClr val="E6DCD2"/>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400"/>
              </a:spcAft>
              <a:defRPr sz="2000" b="1">
                <a:solidFill>
                  <a:srgbClr val="B4461E"/>
                </a:solidFill>
              </a:defRPr>
            </a:pPr>
            <a:r>
              <a:rPr dirty="0"/>
              <a:t>Impacts</a:t>
            </a:r>
          </a:p>
          <a:p>
            <a:pPr algn="l">
              <a:spcAft>
                <a:spcPts val="1800"/>
              </a:spcAft>
              <a:defRPr sz="1400">
                <a:solidFill>
                  <a:srgbClr val="1E1E1E"/>
                </a:solidFill>
              </a:defRPr>
            </a:pPr>
            <a:r>
              <a:rPr dirty="0"/>
              <a:t>• Over 800 injured, and 250+ killed in the last five years alone</a:t>
            </a:r>
          </a:p>
          <a:p>
            <a:pPr algn="l">
              <a:spcAft>
                <a:spcPts val="1800"/>
              </a:spcAft>
              <a:defRPr sz="1400">
                <a:solidFill>
                  <a:srgbClr val="1E1E1E"/>
                </a:solidFill>
              </a:defRPr>
            </a:pPr>
            <a:r>
              <a:rPr dirty="0"/>
              <a:t>• Over 4 million metric </a:t>
            </a:r>
            <a:r>
              <a:rPr dirty="0" err="1"/>
              <a:t>tonnes</a:t>
            </a:r>
            <a:r>
              <a:rPr dirty="0"/>
              <a:t> of coal go</a:t>
            </a:r>
            <a:r>
              <a:rPr lang="en-IN" dirty="0"/>
              <a:t>es</a:t>
            </a:r>
            <a:r>
              <a:rPr dirty="0"/>
              <a:t> missing every year</a:t>
            </a:r>
          </a:p>
          <a:p>
            <a:pPr algn="l">
              <a:spcAft>
                <a:spcPts val="1800"/>
              </a:spcAft>
              <a:defRPr sz="1400">
                <a:solidFill>
                  <a:srgbClr val="1E1E1E"/>
                </a:solidFill>
              </a:defRPr>
            </a:pPr>
            <a:r>
              <a:rPr dirty="0"/>
              <a:t>• </a:t>
            </a:r>
            <a:r>
              <a:rPr lang="en-IN" dirty="0"/>
              <a:t>hazards and violations like landslides , overhanging loose boulders, fire/smoke , etc </a:t>
            </a:r>
            <a:r>
              <a:rPr dirty="0"/>
              <a:t>are common occurrences</a:t>
            </a:r>
          </a:p>
        </p:txBody>
      </p:sp>
    </p:spTree>
  </p:cSld>
  <p:clrMapOvr>
    <a:masterClrMapping/>
  </p:clrMapOvr>
  <mc:AlternateContent xmlns:mc="http://schemas.openxmlformats.org/markup-compatibility/2006" xmlns:p14="http://schemas.microsoft.com/office/powerpoint/2010/main">
    <mc:Choice Requires="p14">
      <p:transition spd="med" p14:dur="600">
        <p:blinds/>
      </p:transition>
    </mc:Choice>
    <mc:Fallback xmlns="">
      <p:transition spd="med">
        <p:blind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
        <p:cNvGrpSpPr/>
        <p:nvPr/>
      </p:nvGrpSpPr>
      <p:grpSpPr>
        <a:xfrm>
          <a:off x="0" y="0"/>
          <a:ext cx="0" cy="0"/>
          <a:chOff x="0" y="0"/>
          <a:chExt cx="0" cy="0"/>
        </a:xfrm>
      </p:grpSpPr>
      <p:sp>
        <p:nvSpPr>
          <p:cNvPr id="2" name="Rounded Rectangle 1"/>
          <p:cNvSpPr/>
          <p:nvPr/>
        </p:nvSpPr>
        <p:spPr>
          <a:xfrm>
            <a:off x="731520" y="502920"/>
            <a:ext cx="4114800" cy="320040"/>
          </a:xfrm>
          <a:prstGeom prst="roundRect">
            <a:avLst/>
          </a:prstGeom>
          <a:solidFill>
            <a:srgbClr val="EEE2DA"/>
          </a:solidFill>
          <a:ln>
            <a:solidFill>
              <a:srgbClr val="DCCDC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78554B"/>
                </a:solidFill>
              </a:defRPr>
            </a:pPr>
            <a:r>
              <a:t>WHAT RESEARCH SAYS: GAPS IN THE COAL INDUSTRY</a:t>
            </a:r>
          </a:p>
        </p:txBody>
      </p:sp>
      <p:sp>
        <p:nvSpPr>
          <p:cNvPr id="3" name="TextBox 2"/>
          <p:cNvSpPr txBox="1"/>
          <p:nvPr/>
        </p:nvSpPr>
        <p:spPr>
          <a:xfrm>
            <a:off x="731520" y="868680"/>
            <a:ext cx="10728655" cy="731520"/>
          </a:xfrm>
          <a:prstGeom prst="rect">
            <a:avLst/>
          </a:prstGeom>
          <a:noFill/>
        </p:spPr>
        <p:txBody>
          <a:bodyPr wrap="square">
            <a:spAutoFit/>
          </a:bodyPr>
          <a:lstStyle/>
          <a:p>
            <a:pPr>
              <a:defRPr sz="3600" b="1">
                <a:solidFill>
                  <a:srgbClr val="1E1E1E"/>
                </a:solidFill>
              </a:defRPr>
            </a:pPr>
            <a:r>
              <a:t>Literature Review</a:t>
            </a:r>
          </a:p>
        </p:txBody>
      </p:sp>
      <p:sp>
        <p:nvSpPr>
          <p:cNvPr id="4" name="Rectangle 3"/>
          <p:cNvSpPr/>
          <p:nvPr/>
        </p:nvSpPr>
        <p:spPr>
          <a:xfrm>
            <a:off x="731520" y="1645920"/>
            <a:ext cx="10728655" cy="18288"/>
          </a:xfrm>
          <a:prstGeom prst="rect">
            <a:avLst/>
          </a:prstGeom>
          <a:solidFill>
            <a:srgbClr val="B9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874519"/>
            <a:ext cx="10728655" cy="4572000"/>
          </a:xfrm>
          <a:prstGeom prst="roundRect">
            <a:avLst/>
          </a:prstGeom>
          <a:solidFill>
            <a:srgbClr val="FFFFFF"/>
          </a:solidFill>
          <a:ln>
            <a:solidFill>
              <a:srgbClr val="E6DCD2"/>
            </a:solidFill>
          </a:ln>
        </p:spPr>
        <p:style>
          <a:lnRef idx="1">
            <a:schemeClr val="accent1"/>
          </a:lnRef>
          <a:fillRef idx="3">
            <a:schemeClr val="accent1"/>
          </a:fillRef>
          <a:effectRef idx="2">
            <a:schemeClr val="accent1"/>
          </a:effectRef>
          <a:fontRef idx="minor">
            <a:schemeClr val="lt1"/>
          </a:fontRef>
        </p:style>
        <p:txBody>
          <a:bodyPr wrap="square" lIns="365760" tIns="320040" rIns="365760" bIns="320040" rtlCol="0" anchor="ctr"/>
          <a:lstStyle/>
          <a:p>
            <a:pPr algn="l">
              <a:spcAft>
                <a:spcPts val="1200"/>
              </a:spcAft>
              <a:defRPr sz="1350">
                <a:solidFill>
                  <a:srgbClr val="1E1E1E"/>
                </a:solidFill>
              </a:defRPr>
            </a:pPr>
            <a:r>
              <a:t>•  Digital documentation exists, but is fragmented and difficult to follow, leading to hundreds of pending grievance handling cases as well as loss of accountability.</a:t>
            </a:r>
          </a:p>
          <a:p>
            <a:pPr algn="l">
              <a:spcAft>
                <a:spcPts val="1200"/>
              </a:spcAft>
              <a:defRPr sz="1350">
                <a:solidFill>
                  <a:srgbClr val="1E1E1E"/>
                </a:solidFill>
              </a:defRPr>
            </a:pPr>
            <a:r>
              <a:t>•  Multiple underground sensors are present to track smoke, cracks, fire, and hazardous gases, but they sense them only after they are triggered, so evacuation is already delayed.</a:t>
            </a:r>
          </a:p>
          <a:p>
            <a:pPr algn="l">
              <a:spcAft>
                <a:spcPts val="1200"/>
              </a:spcAft>
              <a:defRPr sz="1350">
                <a:solidFill>
                  <a:srgbClr val="1E1E1E"/>
                </a:solidFill>
              </a:defRPr>
            </a:pPr>
            <a:r>
              <a:t>•  No automation exists anywhere; retro-SCADA model is being followed, resulting in wastage of time as well as more than necessary manual labour.</a:t>
            </a:r>
          </a:p>
          <a:p>
            <a:pPr algn="l">
              <a:spcAft>
                <a:spcPts val="1200"/>
              </a:spcAft>
              <a:defRPr sz="1350">
                <a:solidFill>
                  <a:srgbClr val="1E1E1E"/>
                </a:solidFill>
              </a:defRPr>
            </a:pPr>
            <a:r>
              <a:t>•  Security and surveillance are completely dependent on standard CCTV systems, making surveillance extremely tough in areas with wandering electricity and huge coverage.</a:t>
            </a:r>
          </a:p>
          <a:p>
            <a:pPr algn="l">
              <a:spcAft>
                <a:spcPts val="1200"/>
              </a:spcAft>
              <a:defRPr sz="1350">
                <a:solidFill>
                  <a:srgbClr val="1E1E1E"/>
                </a:solidFill>
              </a:defRPr>
            </a:pPr>
            <a:r>
              <a:t>•  CIL, being a huge corporation which generates over a billion metric tonnes of coal every year, is divided into 8 humongous subsidiaries, which are then fragmented into over 300 mining sites, making unified governance and multi-site compliance extremely difficult in the existing manual system.</a:t>
            </a:r>
          </a:p>
        </p:txBody>
      </p:sp>
    </p:spTree>
  </p:cSld>
  <p:clrMapOvr>
    <a:masterClrMapping/>
  </p:clrMapOvr>
  <mc:AlternateContent xmlns:mc="http://schemas.openxmlformats.org/markup-compatibility/2006" xmlns:p14="http://schemas.microsoft.com/office/powerpoint/2010/main">
    <mc:Choice Requires="p14">
      <p:transition spd="med" p14:dur="600">
        <p:blinds/>
      </p:transition>
    </mc:Choice>
    <mc:Fallback xmlns="">
      <p:transition spd="med">
        <p:blind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
        <p:cNvGrpSpPr/>
        <p:nvPr/>
      </p:nvGrpSpPr>
      <p:grpSpPr>
        <a:xfrm>
          <a:off x="0" y="0"/>
          <a:ext cx="0" cy="0"/>
          <a:chOff x="0" y="0"/>
          <a:chExt cx="0" cy="0"/>
        </a:xfrm>
      </p:grpSpPr>
      <p:sp>
        <p:nvSpPr>
          <p:cNvPr id="2" name="Rounded Rectangle 1"/>
          <p:cNvSpPr/>
          <p:nvPr/>
        </p:nvSpPr>
        <p:spPr>
          <a:xfrm>
            <a:off x="731520" y="502920"/>
            <a:ext cx="3108960" cy="320040"/>
          </a:xfrm>
          <a:prstGeom prst="roundRect">
            <a:avLst/>
          </a:prstGeom>
          <a:solidFill>
            <a:srgbClr val="EEE2DA"/>
          </a:solidFill>
          <a:ln>
            <a:solidFill>
              <a:srgbClr val="DCCDC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78554B"/>
                </a:solidFill>
              </a:defRPr>
            </a:pPr>
            <a:r>
              <a:t>PRAHARAI: VIGILANCE MADE DIGITAL</a:t>
            </a:r>
          </a:p>
        </p:txBody>
      </p:sp>
      <p:sp>
        <p:nvSpPr>
          <p:cNvPr id="3" name="TextBox 2"/>
          <p:cNvSpPr txBox="1"/>
          <p:nvPr/>
        </p:nvSpPr>
        <p:spPr>
          <a:xfrm>
            <a:off x="731520" y="868680"/>
            <a:ext cx="10728655" cy="731520"/>
          </a:xfrm>
          <a:prstGeom prst="rect">
            <a:avLst/>
          </a:prstGeom>
          <a:noFill/>
        </p:spPr>
        <p:txBody>
          <a:bodyPr wrap="square">
            <a:spAutoFit/>
          </a:bodyPr>
          <a:lstStyle/>
          <a:p>
            <a:pPr>
              <a:defRPr sz="3600" b="1">
                <a:solidFill>
                  <a:srgbClr val="1E1E1E"/>
                </a:solidFill>
              </a:defRPr>
            </a:pPr>
            <a:r>
              <a:t>Proposed Solution</a:t>
            </a:r>
          </a:p>
        </p:txBody>
      </p:sp>
      <p:sp>
        <p:nvSpPr>
          <p:cNvPr id="4" name="Rectangle 3"/>
          <p:cNvSpPr/>
          <p:nvPr/>
        </p:nvSpPr>
        <p:spPr>
          <a:xfrm>
            <a:off x="731520" y="1645920"/>
            <a:ext cx="10728655" cy="18288"/>
          </a:xfrm>
          <a:prstGeom prst="rect">
            <a:avLst/>
          </a:prstGeom>
          <a:solidFill>
            <a:srgbClr val="B9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874519"/>
            <a:ext cx="10728655" cy="4572000"/>
          </a:xfrm>
          <a:prstGeom prst="roundRect">
            <a:avLst/>
          </a:prstGeom>
          <a:solidFill>
            <a:srgbClr val="FFFFFF"/>
          </a:solidFill>
          <a:ln>
            <a:solidFill>
              <a:srgbClr val="E6DCD2"/>
            </a:solidFill>
          </a:ln>
        </p:spPr>
        <p:style>
          <a:lnRef idx="1">
            <a:schemeClr val="accent1"/>
          </a:lnRef>
          <a:fillRef idx="3">
            <a:schemeClr val="accent1"/>
          </a:fillRef>
          <a:effectRef idx="2">
            <a:schemeClr val="accent1"/>
          </a:effectRef>
          <a:fontRef idx="minor">
            <a:schemeClr val="lt1"/>
          </a:fontRef>
        </p:style>
        <p:txBody>
          <a:bodyPr wrap="square" lIns="365760" tIns="320040" rIns="365760" bIns="320040" rtlCol="0" anchor="ctr"/>
          <a:lstStyle/>
          <a:p>
            <a:pPr algn="l">
              <a:spcAft>
                <a:spcPts val="1300"/>
              </a:spcAft>
              <a:defRPr sz="1500">
                <a:solidFill>
                  <a:srgbClr val="1E1E1E"/>
                </a:solidFill>
              </a:defRPr>
            </a:pPr>
            <a:r>
              <a:t>•  AI-based Drone Surveillance Analytics</a:t>
            </a:r>
          </a:p>
          <a:p>
            <a:pPr algn="l">
              <a:spcAft>
                <a:spcPts val="1300"/>
              </a:spcAft>
              <a:defRPr sz="1500">
                <a:solidFill>
                  <a:srgbClr val="1E1E1E"/>
                </a:solidFill>
              </a:defRPr>
            </a:pPr>
            <a:r>
              <a:t>•  Integrated Vehicle Monitoring with ANPR, GPS, and RFID</a:t>
            </a:r>
          </a:p>
          <a:p>
            <a:pPr algn="l">
              <a:spcAft>
                <a:spcPts val="1300"/>
              </a:spcAft>
              <a:defRPr sz="1500">
                <a:solidFill>
                  <a:srgbClr val="1E1E1E"/>
                </a:solidFill>
              </a:defRPr>
            </a:pPr>
            <a:r>
              <a:t>•  Digital Compliance Engine</a:t>
            </a:r>
          </a:p>
          <a:p>
            <a:pPr algn="l">
              <a:spcAft>
                <a:spcPts val="1300"/>
              </a:spcAft>
              <a:defRPr sz="1500">
                <a:solidFill>
                  <a:srgbClr val="1E1E1E"/>
                </a:solidFill>
              </a:defRPr>
            </a:pPr>
            <a:r>
              <a:t>•  Multi-Mode Digital Dashboard</a:t>
            </a:r>
          </a:p>
          <a:p>
            <a:pPr algn="l">
              <a:spcAft>
                <a:spcPts val="1300"/>
              </a:spcAft>
              <a:defRPr sz="1500">
                <a:solidFill>
                  <a:srgbClr val="1E1E1E"/>
                </a:solidFill>
              </a:defRPr>
            </a:pPr>
            <a:r>
              <a:t>•  AI/ML automation for existing manually controlled tech</a:t>
            </a:r>
          </a:p>
          <a:p>
            <a:pPr algn="l">
              <a:spcAft>
                <a:spcPts val="1300"/>
              </a:spcAft>
              <a:defRPr sz="1500">
                <a:solidFill>
                  <a:srgbClr val="1E1E1E"/>
                </a:solidFill>
              </a:defRPr>
            </a:pPr>
            <a:r>
              <a:t>•  Digital Audit Trails</a:t>
            </a:r>
          </a:p>
          <a:p>
            <a:pPr algn="l">
              <a:spcAft>
                <a:spcPts val="1300"/>
              </a:spcAft>
              <a:defRPr sz="1500">
                <a:solidFill>
                  <a:srgbClr val="1E1E1E"/>
                </a:solidFill>
              </a:defRPr>
            </a:pPr>
            <a:r>
              <a:t>•  Manual exception handling for AI-based failures</a:t>
            </a:r>
          </a:p>
        </p:txBody>
      </p:sp>
    </p:spTree>
  </p:cSld>
  <p:clrMapOvr>
    <a:masterClrMapping/>
  </p:clrMapOvr>
  <mc:AlternateContent xmlns:mc="http://schemas.openxmlformats.org/markup-compatibility/2006" xmlns:p14="http://schemas.microsoft.com/office/powerpoint/2010/main">
    <mc:Choice Requires="p14">
      <p:transition spd="med" p14:dur="600">
        <p:blinds/>
      </p:transition>
    </mc:Choice>
    <mc:Fallback xmlns="">
      <p:transition spd="med">
        <p:blind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
        <p:cNvGrpSpPr/>
        <p:nvPr/>
      </p:nvGrpSpPr>
      <p:grpSpPr>
        <a:xfrm>
          <a:off x="0" y="0"/>
          <a:ext cx="0" cy="0"/>
          <a:chOff x="0" y="0"/>
          <a:chExt cx="0" cy="0"/>
        </a:xfrm>
      </p:grpSpPr>
      <p:sp>
        <p:nvSpPr>
          <p:cNvPr id="2" name="Rounded Rectangle 1"/>
          <p:cNvSpPr/>
          <p:nvPr/>
        </p:nvSpPr>
        <p:spPr>
          <a:xfrm>
            <a:off x="731520" y="502920"/>
            <a:ext cx="2377440" cy="320040"/>
          </a:xfrm>
          <a:prstGeom prst="roundRect">
            <a:avLst/>
          </a:prstGeom>
          <a:solidFill>
            <a:srgbClr val="EEE2DA"/>
          </a:solidFill>
          <a:ln>
            <a:solidFill>
              <a:srgbClr val="DCCDC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78554B"/>
                </a:solidFill>
              </a:defRPr>
            </a:pPr>
            <a:r>
              <a:t>TECHNICAL ARCHITECTURE</a:t>
            </a:r>
          </a:p>
        </p:txBody>
      </p:sp>
      <p:sp>
        <p:nvSpPr>
          <p:cNvPr id="3" name="TextBox 2"/>
          <p:cNvSpPr txBox="1"/>
          <p:nvPr/>
        </p:nvSpPr>
        <p:spPr>
          <a:xfrm>
            <a:off x="731520" y="868680"/>
            <a:ext cx="10728655" cy="731520"/>
          </a:xfrm>
          <a:prstGeom prst="rect">
            <a:avLst/>
          </a:prstGeom>
          <a:noFill/>
        </p:spPr>
        <p:txBody>
          <a:bodyPr wrap="square">
            <a:spAutoFit/>
          </a:bodyPr>
          <a:lstStyle/>
          <a:p>
            <a:pPr>
              <a:defRPr sz="3600" b="1">
                <a:solidFill>
                  <a:srgbClr val="1E1E1E"/>
                </a:solidFill>
              </a:defRPr>
            </a:pPr>
            <a:r>
              <a:t>System Architecture &amp; Tech Stack</a:t>
            </a:r>
          </a:p>
        </p:txBody>
      </p:sp>
      <p:sp>
        <p:nvSpPr>
          <p:cNvPr id="4" name="Rectangle 3"/>
          <p:cNvSpPr/>
          <p:nvPr/>
        </p:nvSpPr>
        <p:spPr>
          <a:xfrm>
            <a:off x="731520" y="1645920"/>
            <a:ext cx="10728655" cy="18288"/>
          </a:xfrm>
          <a:prstGeom prst="rect">
            <a:avLst/>
          </a:prstGeom>
          <a:solidFill>
            <a:srgbClr val="B9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2697480" y="2971800"/>
            <a:ext cx="1371600" cy="1371600"/>
          </a:xfrm>
          <a:prstGeom prst="ellipse">
            <a:avLst/>
          </a:prstGeom>
          <a:solidFill>
            <a:srgbClr val="D75F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PraharAI</a:t>
            </a:r>
            <a:br/>
            <a:r>
              <a:t>Data Flow</a:t>
            </a:r>
          </a:p>
        </p:txBody>
      </p:sp>
      <p:sp>
        <p:nvSpPr>
          <p:cNvPr id="6" name="Rounded Rectangle 5"/>
          <p:cNvSpPr/>
          <p:nvPr/>
        </p:nvSpPr>
        <p:spPr>
          <a:xfrm>
            <a:off x="731520" y="1965960"/>
            <a:ext cx="2194560" cy="1097280"/>
          </a:xfrm>
          <a:prstGeom prst="roundRect">
            <a:avLst/>
          </a:prstGeom>
          <a:solidFill>
            <a:srgbClr val="F6EAE4"/>
          </a:solidFill>
          <a:ln>
            <a:solidFill>
              <a:srgbClr val="E6D7CD"/>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defRPr sz="1300" b="1">
                <a:solidFill>
                  <a:srgbClr val="1E1E1E"/>
                </a:solidFill>
              </a:defRPr>
            </a:pPr>
            <a:r>
              <a:t>Presentation Layer</a:t>
            </a:r>
          </a:p>
          <a:p>
            <a:pPr algn="ctr">
              <a:defRPr sz="1000">
                <a:solidFill>
                  <a:srgbClr val="4B4B4B"/>
                </a:solidFill>
              </a:defRPr>
            </a:pPr>
            <a:r>
              <a:t>Dashboard, mobile app, portal, reports</a:t>
            </a:r>
          </a:p>
        </p:txBody>
      </p:sp>
      <p:sp>
        <p:nvSpPr>
          <p:cNvPr id="7" name="Rounded Rectangle 6"/>
          <p:cNvSpPr/>
          <p:nvPr/>
        </p:nvSpPr>
        <p:spPr>
          <a:xfrm>
            <a:off x="3840480" y="1965960"/>
            <a:ext cx="2194560" cy="1097280"/>
          </a:xfrm>
          <a:prstGeom prst="roundRect">
            <a:avLst/>
          </a:prstGeom>
          <a:solidFill>
            <a:srgbClr val="F6EAE4"/>
          </a:solidFill>
          <a:ln>
            <a:solidFill>
              <a:srgbClr val="E6D7CD"/>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defRPr sz="1300" b="1">
                <a:solidFill>
                  <a:srgbClr val="1E1E1E"/>
                </a:solidFill>
              </a:defRPr>
            </a:pPr>
            <a:r>
              <a:t>Data Ingestion</a:t>
            </a:r>
          </a:p>
          <a:p>
            <a:pPr algn="ctr">
              <a:defRPr sz="1000">
                <a:solidFill>
                  <a:srgbClr val="4B4B4B"/>
                </a:solidFill>
              </a:defRPr>
            </a:pPr>
            <a:r>
              <a:t>CCTV, GPS/RFID, mobile forms, ANPR, IoT</a:t>
            </a:r>
          </a:p>
        </p:txBody>
      </p:sp>
      <p:sp>
        <p:nvSpPr>
          <p:cNvPr id="8" name="Rounded Rectangle 7"/>
          <p:cNvSpPr/>
          <p:nvPr/>
        </p:nvSpPr>
        <p:spPr>
          <a:xfrm>
            <a:off x="731520" y="4251960"/>
            <a:ext cx="2194560" cy="1097280"/>
          </a:xfrm>
          <a:prstGeom prst="roundRect">
            <a:avLst/>
          </a:prstGeom>
          <a:solidFill>
            <a:srgbClr val="F6EAE4"/>
          </a:solidFill>
          <a:ln>
            <a:solidFill>
              <a:srgbClr val="E6D7CD"/>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defRPr sz="1300" b="1">
                <a:solidFill>
                  <a:srgbClr val="1E1E1E"/>
                </a:solidFill>
              </a:defRPr>
            </a:pPr>
            <a:r>
              <a:t>Core Backend</a:t>
            </a:r>
          </a:p>
          <a:p>
            <a:pPr algn="ctr">
              <a:defRPr sz="1000">
                <a:solidFill>
                  <a:srgbClr val="4B4B4B"/>
                </a:solidFill>
              </a:defRPr>
            </a:pPr>
            <a:r>
              <a:t>FastAPI, PostgreSQL, RBAC, audit logs</a:t>
            </a:r>
          </a:p>
        </p:txBody>
      </p:sp>
      <p:sp>
        <p:nvSpPr>
          <p:cNvPr id="9" name="Rounded Rectangle 8"/>
          <p:cNvSpPr/>
          <p:nvPr/>
        </p:nvSpPr>
        <p:spPr>
          <a:xfrm>
            <a:off x="3840480" y="4251960"/>
            <a:ext cx="2194560" cy="1097280"/>
          </a:xfrm>
          <a:prstGeom prst="roundRect">
            <a:avLst/>
          </a:prstGeom>
          <a:solidFill>
            <a:srgbClr val="F6EAE4"/>
          </a:solidFill>
          <a:ln>
            <a:solidFill>
              <a:srgbClr val="E6D7CD"/>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defRPr sz="1300" b="1">
                <a:solidFill>
                  <a:srgbClr val="1E1E1E"/>
                </a:solidFill>
              </a:defRPr>
            </a:pPr>
            <a:r>
              <a:t>Processing Layer</a:t>
            </a:r>
          </a:p>
          <a:p>
            <a:pPr algn="ctr">
              <a:defRPr sz="1000">
                <a:solidFill>
                  <a:srgbClr val="4B4B4B"/>
                </a:solidFill>
              </a:defRPr>
            </a:pPr>
            <a:r>
              <a:t>AI video analytics, rules, ML, OCR</a:t>
            </a:r>
          </a:p>
        </p:txBody>
      </p:sp>
      <p:sp>
        <p:nvSpPr>
          <p:cNvPr id="10" name="TextBox 9"/>
          <p:cNvSpPr txBox="1"/>
          <p:nvPr/>
        </p:nvSpPr>
        <p:spPr>
          <a:xfrm>
            <a:off x="731520" y="5486400"/>
            <a:ext cx="5303520" cy="1005840"/>
          </a:xfrm>
          <a:prstGeom prst="rect">
            <a:avLst/>
          </a:prstGeom>
          <a:noFill/>
        </p:spPr>
        <p:txBody>
          <a:bodyPr wrap="square">
            <a:spAutoFit/>
          </a:bodyPr>
          <a:lstStyle/>
          <a:p>
            <a:pPr>
              <a:defRPr sz="1050">
                <a:solidFill>
                  <a:srgbClr val="4B4B4B"/>
                </a:solidFill>
              </a:defRPr>
            </a:pPr>
            <a:r>
              <a:t>Data flows from field devices and surveillance systems through the AI processing layer into the backend, then surfaces through role-appropriate dashboards for field officers, mine managers, and regulators.</a:t>
            </a:r>
          </a:p>
        </p:txBody>
      </p:sp>
      <p:sp>
        <p:nvSpPr>
          <p:cNvPr id="11" name="TextBox 10"/>
          <p:cNvSpPr txBox="1"/>
          <p:nvPr/>
        </p:nvSpPr>
        <p:spPr>
          <a:xfrm>
            <a:off x="6492240" y="1920240"/>
            <a:ext cx="4937760" cy="365760"/>
          </a:xfrm>
          <a:prstGeom prst="rect">
            <a:avLst/>
          </a:prstGeom>
          <a:noFill/>
        </p:spPr>
        <p:txBody>
          <a:bodyPr wrap="none">
            <a:spAutoFit/>
          </a:bodyPr>
          <a:lstStyle/>
          <a:p>
            <a:pPr>
              <a:defRPr sz="1800" b="1">
                <a:solidFill>
                  <a:srgbClr val="1E1E1E"/>
                </a:solidFill>
              </a:defRPr>
            </a:pPr>
            <a:r>
              <a:t>Tech Stack</a:t>
            </a:r>
          </a:p>
        </p:txBody>
      </p:sp>
      <p:sp>
        <p:nvSpPr>
          <p:cNvPr id="12" name="Rounded Rectangle 11"/>
          <p:cNvSpPr/>
          <p:nvPr/>
        </p:nvSpPr>
        <p:spPr>
          <a:xfrm>
            <a:off x="6492240" y="2331720"/>
            <a:ext cx="4937760" cy="749808"/>
          </a:xfrm>
          <a:prstGeom prst="roundRect">
            <a:avLst/>
          </a:prstGeom>
          <a:solidFill>
            <a:srgbClr val="F5F0E8"/>
          </a:solidFill>
          <a:ln>
            <a:solidFill>
              <a:srgbClr val="E6DED4"/>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spcAft>
                <a:spcPts val="200"/>
              </a:spcAft>
              <a:defRPr sz="1300" b="1">
                <a:solidFill>
                  <a:srgbClr val="1E1E1E"/>
                </a:solidFill>
              </a:defRPr>
            </a:pPr>
            <a:r>
              <a:t>Frontend</a:t>
            </a:r>
          </a:p>
          <a:p>
            <a:pPr>
              <a:defRPr sz="1050">
                <a:solidFill>
                  <a:srgbClr val="4B4B4B"/>
                </a:solidFill>
              </a:defRPr>
            </a:pPr>
            <a:r>
              <a:t>HTML5 · Vanilla ES6+ JavaScript · Vanilla CSS3 (custom properties, grid and flexbox)</a:t>
            </a:r>
          </a:p>
        </p:txBody>
      </p:sp>
      <p:sp>
        <p:nvSpPr>
          <p:cNvPr id="13" name="Rounded Rectangle 12"/>
          <p:cNvSpPr/>
          <p:nvPr/>
        </p:nvSpPr>
        <p:spPr>
          <a:xfrm>
            <a:off x="6492240" y="3154680"/>
            <a:ext cx="4937760" cy="749808"/>
          </a:xfrm>
          <a:prstGeom prst="roundRect">
            <a:avLst/>
          </a:prstGeom>
          <a:solidFill>
            <a:srgbClr val="F5F0E8"/>
          </a:solidFill>
          <a:ln>
            <a:solidFill>
              <a:srgbClr val="E6DED4"/>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spcAft>
                <a:spcPts val="200"/>
              </a:spcAft>
              <a:defRPr sz="1300" b="1">
                <a:solidFill>
                  <a:srgbClr val="1E1E1E"/>
                </a:solidFill>
              </a:defRPr>
            </a:pPr>
            <a:r>
              <a:t>Backend</a:t>
            </a:r>
          </a:p>
          <a:p>
            <a:pPr>
              <a:defRPr sz="1050">
                <a:solidFill>
                  <a:srgbClr val="4B4B4B"/>
                </a:solidFill>
              </a:defRPr>
            </a:pPr>
            <a:r>
              <a:t>Python 3.x · FastAPI · Uvicorn (ASGI server) · Jinja2 (templating)</a:t>
            </a:r>
          </a:p>
        </p:txBody>
      </p:sp>
      <p:sp>
        <p:nvSpPr>
          <p:cNvPr id="14" name="Rounded Rectangle 13"/>
          <p:cNvSpPr/>
          <p:nvPr/>
        </p:nvSpPr>
        <p:spPr>
          <a:xfrm>
            <a:off x="6492240" y="3977640"/>
            <a:ext cx="4937760" cy="749808"/>
          </a:xfrm>
          <a:prstGeom prst="roundRect">
            <a:avLst/>
          </a:prstGeom>
          <a:solidFill>
            <a:srgbClr val="F5F0E8"/>
          </a:solidFill>
          <a:ln>
            <a:solidFill>
              <a:srgbClr val="E6DED4"/>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spcAft>
                <a:spcPts val="200"/>
              </a:spcAft>
              <a:defRPr sz="1300" b="1">
                <a:solidFill>
                  <a:srgbClr val="1E1E1E"/>
                </a:solidFill>
              </a:defRPr>
            </a:pPr>
            <a:r>
              <a:t>AI / ML</a:t>
            </a:r>
          </a:p>
          <a:p>
            <a:pPr>
              <a:defRPr sz="1050">
                <a:solidFill>
                  <a:srgbClr val="4B4B4B"/>
                </a:solidFill>
              </a:defRPr>
            </a:pPr>
            <a:r>
              <a:t>YOLOv8 (object detection) · scikit-learn · OpenCV · TensorFlow Lite</a:t>
            </a:r>
          </a:p>
        </p:txBody>
      </p:sp>
      <p:sp>
        <p:nvSpPr>
          <p:cNvPr id="15" name="Rounded Rectangle 14"/>
          <p:cNvSpPr/>
          <p:nvPr/>
        </p:nvSpPr>
        <p:spPr>
          <a:xfrm>
            <a:off x="6492240" y="4800600"/>
            <a:ext cx="4937760" cy="749808"/>
          </a:xfrm>
          <a:prstGeom prst="roundRect">
            <a:avLst/>
          </a:prstGeom>
          <a:solidFill>
            <a:srgbClr val="F5F0E8"/>
          </a:solidFill>
          <a:ln>
            <a:solidFill>
              <a:srgbClr val="E6DED4"/>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spcAft>
                <a:spcPts val="200"/>
              </a:spcAft>
              <a:defRPr sz="1300" b="1">
                <a:solidFill>
                  <a:srgbClr val="1E1E1E"/>
                </a:solidFill>
              </a:defRPr>
            </a:pPr>
            <a:r>
              <a:t>Database</a:t>
            </a:r>
          </a:p>
          <a:p>
            <a:pPr>
              <a:defRPr sz="1050">
                <a:solidFill>
                  <a:srgbClr val="4B4B4B"/>
                </a:solidFill>
              </a:defRPr>
            </a:pPr>
            <a:r>
              <a:t>Redis (cache/alerts) · PostGIS (geo-tagging)</a:t>
            </a:r>
          </a:p>
        </p:txBody>
      </p:sp>
      <p:sp>
        <p:nvSpPr>
          <p:cNvPr id="16" name="Rounded Rectangle 15"/>
          <p:cNvSpPr/>
          <p:nvPr/>
        </p:nvSpPr>
        <p:spPr>
          <a:xfrm>
            <a:off x="6492240" y="5623560"/>
            <a:ext cx="4937760" cy="749808"/>
          </a:xfrm>
          <a:prstGeom prst="roundRect">
            <a:avLst/>
          </a:prstGeom>
          <a:solidFill>
            <a:srgbClr val="F5F0E8"/>
          </a:solidFill>
          <a:ln>
            <a:solidFill>
              <a:srgbClr val="E6DED4"/>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spcAft>
                <a:spcPts val="200"/>
              </a:spcAft>
              <a:defRPr sz="1300" b="1">
                <a:solidFill>
                  <a:srgbClr val="1E1E1E"/>
                </a:solidFill>
              </a:defRPr>
            </a:pPr>
            <a:r>
              <a:t>Infra &amp; Integration</a:t>
            </a:r>
          </a:p>
          <a:p>
            <a:pPr>
              <a:defRPr sz="1050">
                <a:solidFill>
                  <a:srgbClr val="4B4B4B"/>
                </a:solidFill>
              </a:defRPr>
            </a:pPr>
            <a:r>
              <a:t>Docker · RTSP (CCTV) · ANPR API · MQTT (IoT) · AWS/GCP (cloud)</a:t>
            </a:r>
          </a:p>
        </p:txBody>
      </p:sp>
    </p:spTree>
  </p:cSld>
  <p:clrMapOvr>
    <a:masterClrMapping/>
  </p:clrMapOvr>
  <mc:AlternateContent xmlns:mc="http://schemas.openxmlformats.org/markup-compatibility/2006" xmlns:p14="http://schemas.microsoft.com/office/powerpoint/2010/main">
    <mc:Choice Requires="p14">
      <p:transition spd="med" p14:dur="600">
        <p:blinds/>
      </p:transition>
    </mc:Choice>
    <mc:Fallback xmlns="">
      <p:transition spd="med">
        <p:blind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P spid="8" grpId="0" animBg="1"/>
      <p:bldP spid="9" grpId="0" animBg="1"/>
      <p:bldP spid="10" grpId="0"/>
      <p:bldP spid="11" grpId="0"/>
      <p:bldP spid="12" grpId="0" animBg="1"/>
      <p:bldP spid="13" grpId="0" animBg="1"/>
      <p:bldP spid="14" grpId="0" animBg="1"/>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
        <p:cNvGrpSpPr/>
        <p:nvPr/>
      </p:nvGrpSpPr>
      <p:grpSpPr>
        <a:xfrm>
          <a:off x="0" y="0"/>
          <a:ext cx="0" cy="0"/>
          <a:chOff x="0" y="0"/>
          <a:chExt cx="0" cy="0"/>
        </a:xfrm>
      </p:grpSpPr>
      <p:sp>
        <p:nvSpPr>
          <p:cNvPr id="2" name="Rounded Rectangle 1"/>
          <p:cNvSpPr/>
          <p:nvPr/>
        </p:nvSpPr>
        <p:spPr>
          <a:xfrm>
            <a:off x="731520" y="502920"/>
            <a:ext cx="2377440" cy="320040"/>
          </a:xfrm>
          <a:prstGeom prst="roundRect">
            <a:avLst/>
          </a:prstGeom>
          <a:solidFill>
            <a:srgbClr val="EEE2DA"/>
          </a:solidFill>
          <a:ln>
            <a:solidFill>
              <a:srgbClr val="DCCDC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78554B"/>
                </a:solidFill>
              </a:defRPr>
            </a:pPr>
            <a:r>
              <a:t>INNOVATION &amp; NOVELTY</a:t>
            </a:r>
          </a:p>
        </p:txBody>
      </p:sp>
      <p:sp>
        <p:nvSpPr>
          <p:cNvPr id="3" name="TextBox 2"/>
          <p:cNvSpPr txBox="1"/>
          <p:nvPr/>
        </p:nvSpPr>
        <p:spPr>
          <a:xfrm>
            <a:off x="731520" y="868680"/>
            <a:ext cx="10728655" cy="731520"/>
          </a:xfrm>
          <a:prstGeom prst="rect">
            <a:avLst/>
          </a:prstGeom>
          <a:noFill/>
        </p:spPr>
        <p:txBody>
          <a:bodyPr wrap="square">
            <a:spAutoFit/>
          </a:bodyPr>
          <a:lstStyle/>
          <a:p>
            <a:pPr>
              <a:defRPr sz="3600" b="1">
                <a:solidFill>
                  <a:srgbClr val="1E1E1E"/>
                </a:solidFill>
              </a:defRPr>
            </a:pPr>
            <a:r>
              <a:t>What Makes PraharAI Novel</a:t>
            </a:r>
          </a:p>
        </p:txBody>
      </p:sp>
      <p:sp>
        <p:nvSpPr>
          <p:cNvPr id="4" name="Rectangle 3"/>
          <p:cNvSpPr/>
          <p:nvPr/>
        </p:nvSpPr>
        <p:spPr>
          <a:xfrm>
            <a:off x="731520" y="1645920"/>
            <a:ext cx="10728655" cy="18288"/>
          </a:xfrm>
          <a:prstGeom prst="rect">
            <a:avLst/>
          </a:prstGeom>
          <a:solidFill>
            <a:srgbClr val="B9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874519"/>
            <a:ext cx="5303520" cy="2194560"/>
          </a:xfrm>
          <a:prstGeom prst="roundRect">
            <a:avLst/>
          </a:prstGeom>
          <a:solidFill>
            <a:srgbClr val="FFFFFF"/>
          </a:solidFill>
          <a:ln>
            <a:solidFill>
              <a:srgbClr val="E6DCD2"/>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228600" rtlCol="0" anchor="ctr"/>
          <a:lstStyle/>
          <a:p>
            <a:pPr algn="l">
              <a:spcAft>
                <a:spcPts val="800"/>
              </a:spcAft>
              <a:defRPr sz="1600" b="1">
                <a:solidFill>
                  <a:srgbClr val="B4461E"/>
                </a:solidFill>
              </a:defRPr>
            </a:pPr>
            <a:r>
              <a:t>First-of-Its-Kind Tech</a:t>
            </a:r>
          </a:p>
          <a:p>
            <a:pPr algn="l">
              <a:defRPr sz="1200">
                <a:solidFill>
                  <a:srgbClr val="1E1E1E"/>
                </a:solidFill>
              </a:defRPr>
            </a:pPr>
            <a:r>
              <a:t>First of its kind tech for the CIL corporation, substituting manual operations of checkposts, weighbridges, Vehicle Tracking System, and surveillance and supervision systems, making it more time efficient than existing solutions.</a:t>
            </a:r>
          </a:p>
        </p:txBody>
      </p:sp>
      <p:sp>
        <p:nvSpPr>
          <p:cNvPr id="6" name="Rounded Rectangle 5"/>
          <p:cNvSpPr/>
          <p:nvPr/>
        </p:nvSpPr>
        <p:spPr>
          <a:xfrm>
            <a:off x="6156655" y="1874519"/>
            <a:ext cx="5303520" cy="2194560"/>
          </a:xfrm>
          <a:prstGeom prst="roundRect">
            <a:avLst/>
          </a:prstGeom>
          <a:solidFill>
            <a:srgbClr val="FFFFFF"/>
          </a:solidFill>
          <a:ln>
            <a:solidFill>
              <a:srgbClr val="E6DCD2"/>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228600" rtlCol="0" anchor="ctr"/>
          <a:lstStyle/>
          <a:p>
            <a:pPr algn="l">
              <a:spcAft>
                <a:spcPts val="800"/>
              </a:spcAft>
              <a:defRPr sz="1600" b="1">
                <a:solidFill>
                  <a:srgbClr val="B4461E"/>
                </a:solidFill>
              </a:defRPr>
            </a:pPr>
            <a:r>
              <a:t>Eradication of Human Errors &amp; Corruption</a:t>
            </a:r>
          </a:p>
          <a:p>
            <a:pPr algn="l">
              <a:defRPr sz="1200">
                <a:solidFill>
                  <a:srgbClr val="1E1E1E"/>
                </a:solidFill>
              </a:defRPr>
            </a:pPr>
            <a:r>
              <a:t>Automation will completely eradicate human errors and corruption, subduing any opportunity for theft, bribery, or inefficiency.</a:t>
            </a:r>
          </a:p>
        </p:txBody>
      </p:sp>
      <p:sp>
        <p:nvSpPr>
          <p:cNvPr id="7" name="Rounded Rectangle 6"/>
          <p:cNvSpPr/>
          <p:nvPr/>
        </p:nvSpPr>
        <p:spPr>
          <a:xfrm>
            <a:off x="731520" y="4206240"/>
            <a:ext cx="5303520" cy="2194560"/>
          </a:xfrm>
          <a:prstGeom prst="roundRect">
            <a:avLst/>
          </a:prstGeom>
          <a:solidFill>
            <a:srgbClr val="FFFFFF"/>
          </a:solidFill>
          <a:ln>
            <a:solidFill>
              <a:srgbClr val="E6DCD2"/>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228600" rtlCol="0" anchor="ctr"/>
          <a:lstStyle/>
          <a:p>
            <a:pPr algn="l">
              <a:spcAft>
                <a:spcPts val="800"/>
              </a:spcAft>
              <a:defRPr sz="1600" b="1">
                <a:solidFill>
                  <a:srgbClr val="B4461E"/>
                </a:solidFill>
              </a:defRPr>
            </a:pPr>
            <a:r>
              <a:t>Unified Governance System</a:t>
            </a:r>
          </a:p>
          <a:p>
            <a:pPr algn="l">
              <a:defRPr sz="1200">
                <a:solidFill>
                  <a:srgbClr val="1E1E1E"/>
                </a:solidFill>
              </a:defRPr>
            </a:pPr>
            <a:r>
              <a:t>Unified governance system replaces the fragmented approach, which is designed from the ground up for CIL's multi-subsidiary structure, based on feedback from real employees and interns.</a:t>
            </a:r>
          </a:p>
        </p:txBody>
      </p:sp>
      <p:sp>
        <p:nvSpPr>
          <p:cNvPr id="8" name="Rounded Rectangle 7"/>
          <p:cNvSpPr/>
          <p:nvPr/>
        </p:nvSpPr>
        <p:spPr>
          <a:xfrm>
            <a:off x="6156655" y="4206240"/>
            <a:ext cx="5303520" cy="2194560"/>
          </a:xfrm>
          <a:prstGeom prst="roundRect">
            <a:avLst/>
          </a:prstGeom>
          <a:solidFill>
            <a:srgbClr val="FFFFFF"/>
          </a:solidFill>
          <a:ln>
            <a:solidFill>
              <a:srgbClr val="E6DCD2"/>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228600" rtlCol="0" anchor="ctr"/>
          <a:lstStyle/>
          <a:p>
            <a:pPr algn="l">
              <a:spcAft>
                <a:spcPts val="800"/>
              </a:spcAft>
              <a:defRPr sz="1600" b="1">
                <a:solidFill>
                  <a:srgbClr val="B4461E"/>
                </a:solidFill>
              </a:defRPr>
            </a:pPr>
            <a:r>
              <a:t>Role-Stratified Access</a:t>
            </a:r>
          </a:p>
          <a:p>
            <a:pPr algn="l">
              <a:defRPr sz="1200">
                <a:solidFill>
                  <a:srgbClr val="1E1E1E"/>
                </a:solidFill>
              </a:defRPr>
            </a:pPr>
            <a:r>
              <a:t>Role-Stratified Access: A single data model serves distinct designations, each with different read/write permissions, unlike generic dashboards that flatten all roles, for both subsidiaries and HQ.</a:t>
            </a:r>
          </a:p>
        </p:txBody>
      </p:sp>
    </p:spTree>
  </p:cSld>
  <p:clrMapOvr>
    <a:masterClrMapping/>
  </p:clrMapOvr>
  <mc:AlternateContent xmlns:mc="http://schemas.openxmlformats.org/markup-compatibility/2006" xmlns:p14="http://schemas.microsoft.com/office/powerpoint/2010/main">
    <mc:Choice Requires="p14">
      <p:transition spd="med" p14:dur="600">
        <p:blinds/>
      </p:transition>
    </mc:Choice>
    <mc:Fallback xmlns="">
      <p:transition spd="med">
        <p:blind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
        <p:cNvGrpSpPr/>
        <p:nvPr/>
      </p:nvGrpSpPr>
      <p:grpSpPr>
        <a:xfrm>
          <a:off x="0" y="0"/>
          <a:ext cx="0" cy="0"/>
          <a:chOff x="0" y="0"/>
          <a:chExt cx="0" cy="0"/>
        </a:xfrm>
      </p:grpSpPr>
      <p:sp>
        <p:nvSpPr>
          <p:cNvPr id="2" name="Rounded Rectangle 1"/>
          <p:cNvSpPr/>
          <p:nvPr/>
        </p:nvSpPr>
        <p:spPr>
          <a:xfrm>
            <a:off x="731520" y="502920"/>
            <a:ext cx="4389120" cy="320040"/>
          </a:xfrm>
          <a:prstGeom prst="roundRect">
            <a:avLst/>
          </a:prstGeom>
          <a:solidFill>
            <a:srgbClr val="EEE2DA"/>
          </a:solidFill>
          <a:ln>
            <a:solidFill>
              <a:srgbClr val="DCCDC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78554B"/>
                </a:solidFill>
              </a:defRPr>
            </a:pPr>
            <a:r>
              <a:t>REAL-WORLD IMPACT &amp; BENEFITS FOR THE COAL INDUSTRY</a:t>
            </a:r>
          </a:p>
        </p:txBody>
      </p:sp>
      <p:sp>
        <p:nvSpPr>
          <p:cNvPr id="3" name="TextBox 2"/>
          <p:cNvSpPr txBox="1"/>
          <p:nvPr/>
        </p:nvSpPr>
        <p:spPr>
          <a:xfrm>
            <a:off x="731520" y="868680"/>
            <a:ext cx="10728655" cy="731520"/>
          </a:xfrm>
          <a:prstGeom prst="rect">
            <a:avLst/>
          </a:prstGeom>
          <a:noFill/>
        </p:spPr>
        <p:txBody>
          <a:bodyPr wrap="square">
            <a:spAutoFit/>
          </a:bodyPr>
          <a:lstStyle/>
          <a:p>
            <a:pPr>
              <a:defRPr sz="3600" b="1">
                <a:solidFill>
                  <a:srgbClr val="1E1E1E"/>
                </a:solidFill>
              </a:defRPr>
            </a:pPr>
            <a:r>
              <a:t>Impact</a:t>
            </a:r>
          </a:p>
        </p:txBody>
      </p:sp>
      <p:sp>
        <p:nvSpPr>
          <p:cNvPr id="4" name="Rectangle 3"/>
          <p:cNvSpPr/>
          <p:nvPr/>
        </p:nvSpPr>
        <p:spPr>
          <a:xfrm>
            <a:off x="731520" y="1645920"/>
            <a:ext cx="10728655" cy="18288"/>
          </a:xfrm>
          <a:prstGeom prst="rect">
            <a:avLst/>
          </a:prstGeom>
          <a:solidFill>
            <a:srgbClr val="B9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874519"/>
            <a:ext cx="10728655" cy="4572000"/>
          </a:xfrm>
          <a:prstGeom prst="roundRect">
            <a:avLst/>
          </a:prstGeom>
          <a:solidFill>
            <a:srgbClr val="FFFFFF"/>
          </a:solidFill>
          <a:ln>
            <a:solidFill>
              <a:srgbClr val="E6DCD2"/>
            </a:solidFill>
          </a:ln>
        </p:spPr>
        <p:style>
          <a:lnRef idx="1">
            <a:schemeClr val="accent1"/>
          </a:lnRef>
          <a:fillRef idx="3">
            <a:schemeClr val="accent1"/>
          </a:fillRef>
          <a:effectRef idx="2">
            <a:schemeClr val="accent1"/>
          </a:effectRef>
          <a:fontRef idx="minor">
            <a:schemeClr val="lt1"/>
          </a:fontRef>
        </p:style>
        <p:txBody>
          <a:bodyPr wrap="square" lIns="365760" tIns="365760" rIns="365760" bIns="365760" rtlCol="0" anchor="ctr"/>
          <a:lstStyle/>
          <a:p>
            <a:pPr algn="l">
              <a:spcAft>
                <a:spcPts val="2000"/>
              </a:spcAft>
              <a:defRPr sz="1600">
                <a:solidFill>
                  <a:srgbClr val="1E1E1E"/>
                </a:solidFill>
              </a:defRPr>
            </a:pPr>
            <a:r>
              <a:t>•  70% faster compliance closure</a:t>
            </a:r>
          </a:p>
          <a:p>
            <a:pPr algn="l">
              <a:spcAft>
                <a:spcPts val="2000"/>
              </a:spcAft>
              <a:defRPr sz="1600">
                <a:solidFill>
                  <a:srgbClr val="1E1E1E"/>
                </a:solidFill>
              </a:defRPr>
            </a:pPr>
            <a:r>
              <a:t>•  Preventive instead of reactive Standard Operating Procedures</a:t>
            </a:r>
          </a:p>
          <a:p>
            <a:pPr algn="l">
              <a:spcAft>
                <a:spcPts val="2000"/>
              </a:spcAft>
              <a:defRPr sz="1600">
                <a:solidFill>
                  <a:srgbClr val="1E1E1E"/>
                </a:solidFill>
              </a:defRPr>
            </a:pPr>
            <a:r>
              <a:t>•  Directly covering and benefiting over 200K employees across CIL</a:t>
            </a:r>
          </a:p>
          <a:p>
            <a:pPr algn="l">
              <a:spcAft>
                <a:spcPts val="2000"/>
              </a:spcAft>
              <a:defRPr sz="1600">
                <a:solidFill>
                  <a:srgbClr val="1E1E1E"/>
                </a:solidFill>
              </a:defRPr>
            </a:pPr>
            <a:r>
              <a:t>•  100 million tonnes of target boost</a:t>
            </a:r>
          </a:p>
          <a:p>
            <a:pPr algn="l">
              <a:spcAft>
                <a:spcPts val="2000"/>
              </a:spcAft>
              <a:defRPr sz="1600">
                <a:solidFill>
                  <a:srgbClr val="1E1E1E"/>
                </a:solidFill>
              </a:defRPr>
            </a:pPr>
            <a:r>
              <a:t>•  Smart fleet operations and accurate logistics for over 20,000 vehicles</a:t>
            </a:r>
          </a:p>
        </p:txBody>
      </p:sp>
    </p:spTree>
  </p:cSld>
  <p:clrMapOvr>
    <a:masterClrMapping/>
  </p:clrMapOvr>
  <mc:AlternateContent xmlns:mc="http://schemas.openxmlformats.org/markup-compatibility/2006" xmlns:p14="http://schemas.microsoft.com/office/powerpoint/2010/main">
    <mc:Choice Requires="p14">
      <p:transition spd="med" p14:dur="600">
        <p:blinds/>
      </p:transition>
    </mc:Choice>
    <mc:Fallback xmlns="">
      <p:transition spd="med">
        <p:blind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
        <p:cNvGrpSpPr/>
        <p:nvPr/>
      </p:nvGrpSpPr>
      <p:grpSpPr>
        <a:xfrm>
          <a:off x="0" y="0"/>
          <a:ext cx="0" cy="0"/>
          <a:chOff x="0" y="0"/>
          <a:chExt cx="0" cy="0"/>
        </a:xfrm>
      </p:grpSpPr>
      <p:sp>
        <p:nvSpPr>
          <p:cNvPr id="2" name="Rounded Rectangle 1"/>
          <p:cNvSpPr/>
          <p:nvPr/>
        </p:nvSpPr>
        <p:spPr>
          <a:xfrm>
            <a:off x="731520" y="502920"/>
            <a:ext cx="2743200" cy="320040"/>
          </a:xfrm>
          <a:prstGeom prst="roundRect">
            <a:avLst/>
          </a:prstGeom>
          <a:solidFill>
            <a:srgbClr val="EEE2DA"/>
          </a:solidFill>
          <a:ln>
            <a:solidFill>
              <a:srgbClr val="DCCDC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78554B"/>
                </a:solidFill>
              </a:defRPr>
            </a:pPr>
            <a:r>
              <a:t>DEMO · TEAM · REFERENCES</a:t>
            </a:r>
          </a:p>
        </p:txBody>
      </p:sp>
      <p:sp>
        <p:nvSpPr>
          <p:cNvPr id="3" name="TextBox 2"/>
          <p:cNvSpPr txBox="1"/>
          <p:nvPr/>
        </p:nvSpPr>
        <p:spPr>
          <a:xfrm>
            <a:off x="731520" y="868680"/>
            <a:ext cx="10728655" cy="731520"/>
          </a:xfrm>
          <a:prstGeom prst="rect">
            <a:avLst/>
          </a:prstGeom>
          <a:noFill/>
        </p:spPr>
        <p:txBody>
          <a:bodyPr wrap="square">
            <a:spAutoFit/>
          </a:bodyPr>
          <a:lstStyle/>
          <a:p>
            <a:pPr>
              <a:defRPr sz="3600" b="1">
                <a:solidFill>
                  <a:srgbClr val="1E1E1E"/>
                </a:solidFill>
              </a:defRPr>
            </a:pPr>
            <a:r>
              <a:t>Prototype, Team &amp; References</a:t>
            </a:r>
          </a:p>
        </p:txBody>
      </p:sp>
      <p:sp>
        <p:nvSpPr>
          <p:cNvPr id="4" name="Rectangle 3"/>
          <p:cNvSpPr/>
          <p:nvPr/>
        </p:nvSpPr>
        <p:spPr>
          <a:xfrm>
            <a:off x="731520" y="1645920"/>
            <a:ext cx="10728655" cy="18288"/>
          </a:xfrm>
          <a:prstGeom prst="rect">
            <a:avLst/>
          </a:prstGeom>
          <a:solidFill>
            <a:srgbClr val="B9A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37360"/>
            <a:ext cx="5120640" cy="320040"/>
          </a:xfrm>
          <a:prstGeom prst="rect">
            <a:avLst/>
          </a:prstGeom>
          <a:noFill/>
        </p:spPr>
        <p:txBody>
          <a:bodyPr wrap="none">
            <a:spAutoFit/>
          </a:bodyPr>
          <a:lstStyle/>
          <a:p>
            <a:pPr>
              <a:defRPr sz="1400" b="1">
                <a:solidFill>
                  <a:srgbClr val="1E1E1E"/>
                </a:solidFill>
              </a:defRPr>
            </a:pPr>
            <a:r>
              <a:t>Prototype / Demo Screenshots</a:t>
            </a:r>
          </a:p>
        </p:txBody>
      </p:sp>
      <p:pic>
        <p:nvPicPr>
          <p:cNvPr id="6" name="Picture 5" descr="checkpost summary-1.png"/>
          <p:cNvPicPr>
            <a:picLocks noChangeAspect="1"/>
          </p:cNvPicPr>
          <p:nvPr/>
        </p:nvPicPr>
        <p:blipFill>
          <a:blip r:embed="rId2"/>
          <a:stretch>
            <a:fillRect/>
          </a:stretch>
        </p:blipFill>
        <p:spPr>
          <a:xfrm>
            <a:off x="731520" y="2057400"/>
            <a:ext cx="2514600" cy="1355620"/>
          </a:xfrm>
          <a:prstGeom prst="rect">
            <a:avLst/>
          </a:prstGeom>
        </p:spPr>
      </p:pic>
      <p:pic>
        <p:nvPicPr>
          <p:cNvPr id="7" name="Picture 6" descr="weighbridge summary-1.png"/>
          <p:cNvPicPr>
            <a:picLocks noChangeAspect="1"/>
          </p:cNvPicPr>
          <p:nvPr/>
        </p:nvPicPr>
        <p:blipFill>
          <a:blip r:embed="rId3"/>
          <a:stretch>
            <a:fillRect/>
          </a:stretch>
        </p:blipFill>
        <p:spPr>
          <a:xfrm>
            <a:off x="3337560" y="2057400"/>
            <a:ext cx="2514600" cy="1439464"/>
          </a:xfrm>
          <a:prstGeom prst="rect">
            <a:avLst/>
          </a:prstGeom>
        </p:spPr>
      </p:pic>
      <p:sp>
        <p:nvSpPr>
          <p:cNvPr id="8" name="TextBox 7"/>
          <p:cNvSpPr txBox="1"/>
          <p:nvPr/>
        </p:nvSpPr>
        <p:spPr>
          <a:xfrm>
            <a:off x="6035040" y="1737360"/>
            <a:ext cx="5394960" cy="320040"/>
          </a:xfrm>
          <a:prstGeom prst="rect">
            <a:avLst/>
          </a:prstGeom>
          <a:noFill/>
        </p:spPr>
        <p:txBody>
          <a:bodyPr wrap="none">
            <a:spAutoFit/>
          </a:bodyPr>
          <a:lstStyle/>
          <a:p>
            <a:pPr>
              <a:defRPr sz="1400" b="1">
                <a:solidFill>
                  <a:srgbClr val="1E1E1E"/>
                </a:solidFill>
              </a:defRPr>
            </a:pPr>
            <a:r>
              <a:t>Team Expertise Summary</a:t>
            </a:r>
          </a:p>
        </p:txBody>
      </p:sp>
      <p:graphicFrame>
        <p:nvGraphicFramePr>
          <p:cNvPr id="9" name="Table 8"/>
          <p:cNvGraphicFramePr>
            <a:graphicFrameLocks noGrp="1"/>
          </p:cNvGraphicFramePr>
          <p:nvPr/>
        </p:nvGraphicFramePr>
        <p:xfrm>
          <a:off x="6035040" y="2057400"/>
          <a:ext cx="5425135" cy="16764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596335">
                  <a:extLst>
                    <a:ext uri="{9D8B030D-6E8A-4147-A177-3AD203B41FA5}">
                      <a16:colId xmlns:a16="http://schemas.microsoft.com/office/drawing/2014/main" val="20001"/>
                    </a:ext>
                  </a:extLst>
                </a:gridCol>
              </a:tblGrid>
              <a:tr h="235131">
                <a:tc>
                  <a:txBody>
                    <a:bodyPr/>
                    <a:lstStyle/>
                    <a:p>
                      <a:pPr>
                        <a:defRPr sz="1100" b="1">
                          <a:solidFill>
                            <a:srgbClr val="FFFFFF"/>
                          </a:solidFill>
                        </a:defRPr>
                      </a:pPr>
                      <a:r>
                        <a:t>Member</a:t>
                      </a:r>
                    </a:p>
                  </a:txBody>
                  <a:tcPr>
                    <a:solidFill>
                      <a:srgbClr val="A02D23"/>
                    </a:solidFill>
                  </a:tcPr>
                </a:tc>
                <a:tc>
                  <a:txBody>
                    <a:bodyPr/>
                    <a:lstStyle/>
                    <a:p>
                      <a:pPr>
                        <a:defRPr sz="1100" b="1">
                          <a:solidFill>
                            <a:srgbClr val="FFFFFF"/>
                          </a:solidFill>
                        </a:defRPr>
                      </a:pPr>
                      <a:r>
                        <a:t>Core Skill</a:t>
                      </a:r>
                    </a:p>
                  </a:txBody>
                  <a:tcPr>
                    <a:solidFill>
                      <a:srgbClr val="A02D23"/>
                    </a:solidFill>
                  </a:tcPr>
                </a:tc>
                <a:extLst>
                  <a:ext uri="{0D108BD9-81ED-4DB2-BD59-A6C34878D82A}">
                    <a16:rowId xmlns:a16="http://schemas.microsoft.com/office/drawing/2014/main" val="10000"/>
                  </a:ext>
                </a:extLst>
              </a:tr>
              <a:tr h="235131">
                <a:tc>
                  <a:txBody>
                    <a:bodyPr/>
                    <a:lstStyle/>
                    <a:p>
                      <a:pPr>
                        <a:defRPr sz="950" b="1">
                          <a:solidFill>
                            <a:srgbClr val="1E1E1E"/>
                          </a:solidFill>
                        </a:defRPr>
                      </a:pPr>
                      <a:r>
                        <a:t>Tanmay Goel</a:t>
                      </a:r>
                    </a:p>
                  </a:txBody>
                  <a:tcPr>
                    <a:solidFill>
                      <a:srgbClr val="FFFFFF"/>
                    </a:solidFill>
                  </a:tcPr>
                </a:tc>
                <a:tc>
                  <a:txBody>
                    <a:bodyPr/>
                    <a:lstStyle/>
                    <a:p>
                      <a:pPr>
                        <a:defRPr sz="950">
                          <a:solidFill>
                            <a:srgbClr val="4B4B4B"/>
                          </a:solidFill>
                        </a:defRPr>
                      </a:pPr>
                      <a:r>
                        <a:t>Backend systems, compliance.</a:t>
                      </a:r>
                    </a:p>
                  </a:txBody>
                  <a:tcPr>
                    <a:solidFill>
                      <a:srgbClr val="FFFFFF"/>
                    </a:solidFill>
                  </a:tcPr>
                </a:tc>
                <a:extLst>
                  <a:ext uri="{0D108BD9-81ED-4DB2-BD59-A6C34878D82A}">
                    <a16:rowId xmlns:a16="http://schemas.microsoft.com/office/drawing/2014/main" val="10001"/>
                  </a:ext>
                </a:extLst>
              </a:tr>
              <a:tr h="235131">
                <a:tc>
                  <a:txBody>
                    <a:bodyPr/>
                    <a:lstStyle/>
                    <a:p>
                      <a:pPr>
                        <a:defRPr sz="950" b="1">
                          <a:solidFill>
                            <a:srgbClr val="1E1E1E"/>
                          </a:solidFill>
                        </a:defRPr>
                      </a:pPr>
                      <a:r>
                        <a:t>Divanshu Ramful</a:t>
                      </a:r>
                    </a:p>
                  </a:txBody>
                  <a:tcPr>
                    <a:solidFill>
                      <a:srgbClr val="F5F0EB"/>
                    </a:solidFill>
                  </a:tcPr>
                </a:tc>
                <a:tc>
                  <a:txBody>
                    <a:bodyPr/>
                    <a:lstStyle/>
                    <a:p>
                      <a:pPr>
                        <a:defRPr sz="950">
                          <a:solidFill>
                            <a:srgbClr val="4B4B4B"/>
                          </a:solidFill>
                        </a:defRPr>
                      </a:pPr>
                      <a:r>
                        <a:t>Database architecture, data pipelines</a:t>
                      </a:r>
                    </a:p>
                  </a:txBody>
                  <a:tcPr>
                    <a:solidFill>
                      <a:srgbClr val="F5F0EB"/>
                    </a:solidFill>
                  </a:tcPr>
                </a:tc>
                <a:extLst>
                  <a:ext uri="{0D108BD9-81ED-4DB2-BD59-A6C34878D82A}">
                    <a16:rowId xmlns:a16="http://schemas.microsoft.com/office/drawing/2014/main" val="10002"/>
                  </a:ext>
                </a:extLst>
              </a:tr>
              <a:tr h="235131">
                <a:tc>
                  <a:txBody>
                    <a:bodyPr/>
                    <a:lstStyle/>
                    <a:p>
                      <a:pPr>
                        <a:defRPr sz="950" b="1">
                          <a:solidFill>
                            <a:srgbClr val="1E1E1E"/>
                          </a:solidFill>
                        </a:defRPr>
                      </a:pPr>
                      <a:r>
                        <a:t>Ishan Arya</a:t>
                      </a:r>
                    </a:p>
                  </a:txBody>
                  <a:tcPr>
                    <a:solidFill>
                      <a:srgbClr val="FFFFFF"/>
                    </a:solidFill>
                  </a:tcPr>
                </a:tc>
                <a:tc>
                  <a:txBody>
                    <a:bodyPr/>
                    <a:lstStyle/>
                    <a:p>
                      <a:pPr>
                        <a:defRPr sz="950">
                          <a:solidFill>
                            <a:srgbClr val="4B4B4B"/>
                          </a:solidFill>
                        </a:defRPr>
                      </a:pPr>
                      <a:r>
                        <a:t>Security, RBAC, audit logging</a:t>
                      </a:r>
                    </a:p>
                  </a:txBody>
                  <a:tcPr>
                    <a:solidFill>
                      <a:srgbClr val="FFFFFF"/>
                    </a:solidFill>
                  </a:tcPr>
                </a:tc>
                <a:extLst>
                  <a:ext uri="{0D108BD9-81ED-4DB2-BD59-A6C34878D82A}">
                    <a16:rowId xmlns:a16="http://schemas.microsoft.com/office/drawing/2014/main" val="10003"/>
                  </a:ext>
                </a:extLst>
              </a:tr>
              <a:tr h="235131">
                <a:tc>
                  <a:txBody>
                    <a:bodyPr/>
                    <a:lstStyle/>
                    <a:p>
                      <a:pPr>
                        <a:defRPr sz="950" b="1">
                          <a:solidFill>
                            <a:srgbClr val="1E1E1E"/>
                          </a:solidFill>
                        </a:defRPr>
                      </a:pPr>
                      <a:r>
                        <a:t>Apoorva R</a:t>
                      </a:r>
                    </a:p>
                  </a:txBody>
                  <a:tcPr>
                    <a:solidFill>
                      <a:srgbClr val="F5F0EB"/>
                    </a:solidFill>
                  </a:tcPr>
                </a:tc>
                <a:tc>
                  <a:txBody>
                    <a:bodyPr/>
                    <a:lstStyle/>
                    <a:p>
                      <a:pPr>
                        <a:defRPr sz="950">
                          <a:solidFill>
                            <a:srgbClr val="4B4B4B"/>
                          </a:solidFill>
                        </a:defRPr>
                      </a:pPr>
                      <a:r>
                        <a:t>AI/ML anomaly detection</a:t>
                      </a:r>
                    </a:p>
                  </a:txBody>
                  <a:tcPr>
                    <a:solidFill>
                      <a:srgbClr val="F5F0EB"/>
                    </a:solidFill>
                  </a:tcPr>
                </a:tc>
                <a:extLst>
                  <a:ext uri="{0D108BD9-81ED-4DB2-BD59-A6C34878D82A}">
                    <a16:rowId xmlns:a16="http://schemas.microsoft.com/office/drawing/2014/main" val="10004"/>
                  </a:ext>
                </a:extLst>
              </a:tr>
              <a:tr h="235131">
                <a:tc>
                  <a:txBody>
                    <a:bodyPr/>
                    <a:lstStyle/>
                    <a:p>
                      <a:pPr>
                        <a:defRPr sz="950" b="1">
                          <a:solidFill>
                            <a:srgbClr val="1E1E1E"/>
                          </a:solidFill>
                        </a:defRPr>
                      </a:pPr>
                      <a:r>
                        <a:t>Madhav Mehrotra</a:t>
                      </a:r>
                    </a:p>
                  </a:txBody>
                  <a:tcPr>
                    <a:solidFill>
                      <a:srgbClr val="FFFFFF"/>
                    </a:solidFill>
                  </a:tcPr>
                </a:tc>
                <a:tc>
                  <a:txBody>
                    <a:bodyPr/>
                    <a:lstStyle/>
                    <a:p>
                      <a:pPr>
                        <a:defRPr sz="950">
                          <a:solidFill>
                            <a:srgbClr val="4B4B4B"/>
                          </a:solidFill>
                        </a:defRPr>
                      </a:pPr>
                      <a:r>
                        <a:t>Frontend, UX, mobile development</a:t>
                      </a:r>
                    </a:p>
                  </a:txBody>
                  <a:tcPr>
                    <a:solidFill>
                      <a:srgbClr val="FFFFFF"/>
                    </a:solidFill>
                  </a:tcPr>
                </a:tc>
                <a:extLst>
                  <a:ext uri="{0D108BD9-81ED-4DB2-BD59-A6C34878D82A}">
                    <a16:rowId xmlns:a16="http://schemas.microsoft.com/office/drawing/2014/main" val="10005"/>
                  </a:ext>
                </a:extLst>
              </a:tr>
              <a:tr h="235134">
                <a:tc>
                  <a:txBody>
                    <a:bodyPr/>
                    <a:lstStyle/>
                    <a:p>
                      <a:pPr>
                        <a:defRPr sz="950" b="1">
                          <a:solidFill>
                            <a:srgbClr val="1E1E1E"/>
                          </a:solidFill>
                        </a:defRPr>
                      </a:pPr>
                      <a:r>
                        <a:t>Kumar Prathmesh</a:t>
                      </a:r>
                    </a:p>
                  </a:txBody>
                  <a:tcPr>
                    <a:solidFill>
                      <a:srgbClr val="F5F0EB"/>
                    </a:solidFill>
                  </a:tcPr>
                </a:tc>
                <a:tc>
                  <a:txBody>
                    <a:bodyPr/>
                    <a:lstStyle/>
                    <a:p>
                      <a:pPr>
                        <a:defRPr sz="950">
                          <a:solidFill>
                            <a:srgbClr val="4B4B4B"/>
                          </a:solidFill>
                        </a:defRPr>
                      </a:pPr>
                      <a:r>
                        <a:t>vision, innovation and communication</a:t>
                      </a:r>
                    </a:p>
                  </a:txBody>
                  <a:tcPr>
                    <a:solidFill>
                      <a:srgbClr val="F5F0EB"/>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731520" y="3794760"/>
            <a:ext cx="10728655" cy="320040"/>
          </a:xfrm>
          <a:prstGeom prst="rect">
            <a:avLst/>
          </a:prstGeom>
          <a:noFill/>
        </p:spPr>
        <p:txBody>
          <a:bodyPr wrap="none">
            <a:spAutoFit/>
          </a:bodyPr>
          <a:lstStyle/>
          <a:p>
            <a:pPr>
              <a:defRPr sz="1400" b="1">
                <a:solidFill>
                  <a:srgbClr val="1E1E1E"/>
                </a:solidFill>
              </a:defRPr>
            </a:pPr>
            <a:r>
              <a:t>Key References</a:t>
            </a:r>
          </a:p>
        </p:txBody>
      </p:sp>
      <p:sp>
        <p:nvSpPr>
          <p:cNvPr id="11" name="Rounded Rectangle 10"/>
          <p:cNvSpPr/>
          <p:nvPr/>
        </p:nvSpPr>
        <p:spPr>
          <a:xfrm>
            <a:off x="731520" y="4114800"/>
            <a:ext cx="10728655" cy="2423160"/>
          </a:xfrm>
          <a:prstGeom prst="roundRect">
            <a:avLst/>
          </a:prstGeom>
          <a:solidFill>
            <a:srgbClr val="FFFFFF"/>
          </a:solidFill>
          <a:ln>
            <a:solidFill>
              <a:srgbClr val="E6DCD2"/>
            </a:solidFill>
          </a:ln>
        </p:spPr>
        <p:style>
          <a:lnRef idx="1">
            <a:schemeClr val="accent1"/>
          </a:lnRef>
          <a:fillRef idx="3">
            <a:schemeClr val="accent1"/>
          </a:fillRef>
          <a:effectRef idx="2">
            <a:schemeClr val="accent1"/>
          </a:effectRef>
          <a:fontRef idx="minor">
            <a:schemeClr val="lt1"/>
          </a:fontRef>
        </p:style>
        <p:txBody>
          <a:bodyPr wrap="square" lIns="274320" tIns="182880" rIns="274320" bIns="182880" rtlCol="0" anchor="ctr"/>
          <a:lstStyle/>
          <a:p>
            <a:pPr algn="l">
              <a:spcAft>
                <a:spcPts val="200"/>
              </a:spcAft>
              <a:defRPr sz="950">
                <a:solidFill>
                  <a:srgbClr val="1E1E1E"/>
                </a:solidFill>
              </a:defRPr>
            </a:pPr>
            <a:r>
              <a:t>[1] 2025 Systematic Review — AI/IoT hazard–detection fragmentation in mining.</a:t>
            </a:r>
          </a:p>
          <a:p>
            <a:pPr algn="l">
              <a:spcAft>
                <a:spcPts val="200"/>
              </a:spcAft>
              <a:defRPr sz="950">
                <a:solidFill>
                  <a:srgbClr val="1E1E1E"/>
                </a:solidFill>
              </a:defRPr>
            </a:pPr>
            <a:r>
              <a:t>[2] AI-Enabled Safety and Risk Management in Mining Environments — case studies on AI-driven hazard prevention.</a:t>
            </a:r>
          </a:p>
          <a:p>
            <a:pPr algn="l">
              <a:spcAft>
                <a:spcPts val="200"/>
              </a:spcAft>
              <a:defRPr sz="950">
                <a:solidFill>
                  <a:srgbClr val="1E1E1E"/>
                </a:solidFill>
              </a:defRPr>
            </a:pPr>
            <a:r>
              <a:t>[3] IoT-Based Coal Mine Safety Monitoring Systems — wireless sensor networks for real-time environmental alerts.</a:t>
            </a:r>
          </a:p>
          <a:p>
            <a:pPr algn="l">
              <a:spcAft>
                <a:spcPts val="200"/>
              </a:spcAft>
              <a:defRPr sz="950">
                <a:solidFill>
                  <a:srgbClr val="1E1E1E"/>
                </a:solidFill>
              </a:defRPr>
            </a:pPr>
            <a:r>
              <a:t>[4] Intelligent Monitoring of Underground Personnel Vital Signs — PMC review on wearable IoT in mining.</a:t>
            </a:r>
          </a:p>
          <a:p>
            <a:pPr algn="l">
              <a:spcAft>
                <a:spcPts val="200"/>
              </a:spcAft>
              <a:defRPr sz="950">
                <a:solidFill>
                  <a:srgbClr val="1E1E1E"/>
                </a:solidFill>
              </a:defRPr>
            </a:pPr>
            <a:r>
              <a:t>[5] Khanij Online 2.0 — Case study on India's digital mineral governance platform.</a:t>
            </a:r>
          </a:p>
          <a:p>
            <a:pPr algn="l">
              <a:spcAft>
                <a:spcPts val="200"/>
              </a:spcAft>
              <a:defRPr sz="950">
                <a:solidFill>
                  <a:srgbClr val="1E1E1E"/>
                </a:solidFill>
              </a:defRPr>
            </a:pPr>
            <a:r>
              <a:t>[6] Critical Review of Indian Mining Laws — ScienceDirect study on compliance–monitoring gaps in India.</a:t>
            </a:r>
          </a:p>
          <a:p>
            <a:pPr algn="l">
              <a:spcAft>
                <a:spcPts val="200"/>
              </a:spcAft>
              <a:defRPr sz="950">
                <a:solidFill>
                  <a:srgbClr val="1E1E1E"/>
                </a:solidFill>
              </a:defRPr>
            </a:pPr>
            <a:r>
              <a:t>[7] Digital Twin and Data Governance for Mining — IJERT framework on zero-trust security and operational compliance.</a:t>
            </a:r>
          </a:p>
          <a:p>
            <a:pPr algn="l">
              <a:spcAft>
                <a:spcPts val="200"/>
              </a:spcAft>
              <a:defRPr sz="950">
                <a:solidFill>
                  <a:srgbClr val="1E1E1E"/>
                </a:solidFill>
              </a:defRPr>
            </a:pPr>
            <a:r>
              <a:t>[8] Effects of Digital Transformation on Environmental Governance of Mining Enterprises — empirical study, China.</a:t>
            </a:r>
          </a:p>
          <a:p>
            <a:pPr algn="l">
              <a:spcAft>
                <a:spcPts val="200"/>
              </a:spcAft>
              <a:defRPr sz="950">
                <a:solidFill>
                  <a:srgbClr val="1E1E1E"/>
                </a:solidFill>
              </a:defRPr>
            </a:pPr>
            <a:r>
              <a:t>[9] CIL tenders.</a:t>
            </a:r>
          </a:p>
        </p:txBody>
      </p:sp>
    </p:spTree>
  </p:cSld>
  <p:clrMapOvr>
    <a:masterClrMapping/>
  </p:clrMapOvr>
  <mc:AlternateContent xmlns:mc="http://schemas.openxmlformats.org/markup-compatibility/2006" xmlns:p14="http://schemas.microsoft.com/office/powerpoint/2010/main">
    <mc:Choice Requires="p14">
      <p:transition spd="med" p14:dur="600">
        <p:blinds/>
      </p:transition>
    </mc:Choice>
    <mc:Fallback xmlns="">
      <p:transition spd="med">
        <p:blind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p:bldP spid="8" grpId="0"/>
      <p:bldP spid="10" grpId="0"/>
      <p:bldP spid="1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1019</Words>
  <Application>Microsoft Office PowerPoint</Application>
  <PresentationFormat>Widescreen</PresentationFormat>
  <Paragraphs>113</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Kumar Prathmesh</cp:lastModifiedBy>
  <cp:revision>1</cp:revision>
  <dcterms:created xsi:type="dcterms:W3CDTF">2013-01-27T09:14:16Z</dcterms:created>
  <dcterms:modified xsi:type="dcterms:W3CDTF">2026-08-25T21:05:18Z</dcterms:modified>
  <cp:category/>
</cp:coreProperties>
</file>